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312"/>
        </a:solidFill>
      </p:bgPr>
    </p:bg>
    <p:spTree>
      <p:nvGrpSpPr>
        <p:cNvPr id="1" name=""/>
        <p:cNvGrpSpPr/>
        <p:nvPr/>
      </p:nvGrpSpPr>
      <p:grpSpPr>
        <a:xfrm>
          <a:off x="0" y="0"/>
          <a:ext cx="0" cy="0"/>
          <a:chOff x="0" y="0"/>
          <a:chExt cx="0" cy="0"/>
        </a:xfrm>
      </p:grpSpPr>
      <p:sp>
        <p:nvSpPr>
          <p:cNvPr id="2" name="Shape 0"/>
          <p:cNvSpPr/>
          <p:nvPr/>
        </p:nvSpPr>
        <p:spPr>
          <a:xfrm>
            <a:off x="914400" y="1097280"/>
            <a:ext cx="4114800" cy="320040"/>
          </a:xfrm>
          <a:prstGeom prst="roundRect">
            <a:avLst>
              <a:gd name="adj" fmla="val 28571"/>
            </a:avLst>
          </a:prstGeom>
          <a:solidFill>
            <a:srgbClr val="262626"/>
          </a:solidFill>
          <a:ln w="12700">
            <a:solidFill>
              <a:srgbClr val="D4AF37"/>
            </a:solidFill>
            <a:prstDash val="solid"/>
          </a:ln>
        </p:spPr>
      </p:sp>
      <p:sp>
        <p:nvSpPr>
          <p:cNvPr id="3" name="Text 1"/>
          <p:cNvSpPr/>
          <p:nvPr/>
        </p:nvSpPr>
        <p:spPr>
          <a:xfrm>
            <a:off x="914400" y="1097280"/>
            <a:ext cx="4114800" cy="320040"/>
          </a:xfrm>
          <a:prstGeom prst="rect">
            <a:avLst/>
          </a:prstGeom>
          <a:noFill/>
          <a:ln/>
        </p:spPr>
        <p:txBody>
          <a:bodyPr wrap="square" rtlCol="0" anchor="ctr"/>
          <a:lstStyle/>
          <a:p>
            <a:pPr algn="ctr" indent="0" marL="0">
              <a:buNone/>
            </a:pPr>
            <a:r>
              <a:rPr lang="en-US" sz="900" b="1" dirty="0">
                <a:solidFill>
                  <a:srgbClr val="D4AF37"/>
                </a:solidFill>
                <a:latin typeface="Arial" pitchFamily="34" charset="0"/>
                <a:ea typeface="Arial" pitchFamily="34" charset="-122"/>
                <a:cs typeface="Arial" pitchFamily="34" charset="-120"/>
              </a:rPr>
              <a:t>APPLICATION SHOWCASE &amp; DIGITAL USER GUIDE</a:t>
            </a:r>
            <a:endParaRPr lang="en-US" sz="900" dirty="0"/>
          </a:p>
        </p:txBody>
      </p:sp>
      <p:sp>
        <p:nvSpPr>
          <p:cNvPr id="4" name="Text 2"/>
          <p:cNvSpPr/>
          <p:nvPr/>
        </p:nvSpPr>
        <p:spPr>
          <a:xfrm>
            <a:off x="914400" y="155448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NOVA TRAVEL</a:t>
            </a:r>
            <a:endParaRPr lang="en-US" sz="4400" dirty="0"/>
          </a:p>
        </p:txBody>
      </p:sp>
      <p:sp>
        <p:nvSpPr>
          <p:cNvPr id="5" name="Text 3"/>
          <p:cNvSpPr/>
          <p:nvPr/>
        </p:nvSpPr>
        <p:spPr>
          <a:xfrm>
            <a:off x="914400" y="2377440"/>
            <a:ext cx="7315200" cy="365760"/>
          </a:xfrm>
          <a:prstGeom prst="rect">
            <a:avLst/>
          </a:prstGeom>
          <a:noFill/>
          <a:ln/>
        </p:spPr>
        <p:txBody>
          <a:bodyPr wrap="square" lIns="0" tIns="0" rIns="0" bIns="0" rtlCol="0" anchor="ctr"/>
          <a:lstStyle/>
          <a:p>
            <a:pPr indent="0" marL="0">
              <a:buNone/>
            </a:pPr>
            <a:r>
              <a:rPr lang="en-US" sz="1600" dirty="0">
                <a:solidFill>
                  <a:srgbClr val="A3A3A3"/>
                </a:solidFill>
                <a:latin typeface="Arial" pitchFamily="34" charset="0"/>
                <a:ea typeface="Arial" pitchFamily="34" charset="-122"/>
                <a:cs typeface="Arial" pitchFamily="34" charset="-120"/>
              </a:rPr>
              <a:t>Curated Luxury Journeys — Complete Visual Walkthrough</a:t>
            </a:r>
            <a:endParaRPr lang="en-US" sz="1600" dirty="0"/>
          </a:p>
        </p:txBody>
      </p:sp>
      <p:sp>
        <p:nvSpPr>
          <p:cNvPr id="6" name="Text 4"/>
          <p:cNvSpPr/>
          <p:nvPr/>
        </p:nvSpPr>
        <p:spPr>
          <a:xfrm>
            <a:off x="914400" y="2926080"/>
            <a:ext cx="6858000" cy="731520"/>
          </a:xfrm>
          <a:prstGeom prst="rect">
            <a:avLst/>
          </a:prstGeom>
          <a:noFill/>
          <a:ln/>
        </p:spPr>
        <p:txBody>
          <a:bodyPr wrap="square" lIns="0" tIns="0" rIns="0" bIns="0" rtlCol="0" anchor="ctr"/>
          <a:lstStyle/>
          <a:p>
            <a:pPr indent="0" marL="0">
              <a:lnSpc>
                <a:spcPts val="1800"/>
              </a:lnSpc>
              <a:buNone/>
            </a:pPr>
            <a:r>
              <a:rPr lang="en-US" sz="1200" dirty="0">
                <a:solidFill>
                  <a:srgbClr val="D4D4D4"/>
                </a:solidFill>
                <a:latin typeface="Arial" pitchFamily="34" charset="0"/>
                <a:ea typeface="Arial" pitchFamily="34" charset="-122"/>
                <a:cs typeface="Arial" pitchFamily="34" charset="-120"/>
              </a:rPr>
              <a:t>Dokumentasi visual komprehensif yang memetakan seluruh arsitektur halaman, alur reservasi tamu, fitur AI trip planner, dan portal manajemen operasional super admin.</a:t>
            </a:r>
            <a:endParaRPr lang="en-US" sz="1200" dirty="0"/>
          </a:p>
        </p:txBody>
      </p:sp>
      <p:sp>
        <p:nvSpPr>
          <p:cNvPr id="7" name="Shape 5"/>
          <p:cNvSpPr/>
          <p:nvPr/>
        </p:nvSpPr>
        <p:spPr>
          <a:xfrm>
            <a:off x="914400" y="3931920"/>
            <a:ext cx="1737360" cy="731520"/>
          </a:xfrm>
          <a:prstGeom prst="roundRect">
            <a:avLst>
              <a:gd name="adj" fmla="val 10000"/>
            </a:avLst>
          </a:prstGeom>
          <a:solidFill>
            <a:srgbClr val="1F1E1D"/>
          </a:solidFill>
          <a:ln w="12700">
            <a:solidFill>
              <a:srgbClr val="333333"/>
            </a:solidFill>
            <a:prstDash val="solid"/>
          </a:ln>
        </p:spPr>
      </p:sp>
      <p:sp>
        <p:nvSpPr>
          <p:cNvPr id="8" name="Text 6"/>
          <p:cNvSpPr/>
          <p:nvPr/>
        </p:nvSpPr>
        <p:spPr>
          <a:xfrm>
            <a:off x="914400" y="4005072"/>
            <a:ext cx="1737360" cy="320040"/>
          </a:xfrm>
          <a:prstGeom prst="rect">
            <a:avLst/>
          </a:prstGeom>
          <a:noFill/>
          <a:ln/>
        </p:spPr>
        <p:txBody>
          <a:bodyPr wrap="square" rtlCol="0" anchor="ctr"/>
          <a:lstStyle/>
          <a:p>
            <a:pPr algn="ctr" indent="0" marL="0">
              <a:buNone/>
            </a:pPr>
            <a:r>
              <a:rPr lang="en-US" sz="1600" b="1" dirty="0">
                <a:solidFill>
                  <a:srgbClr val="D4AF37"/>
                </a:solidFill>
                <a:latin typeface="Arial" pitchFamily="34" charset="0"/>
                <a:ea typeface="Arial" pitchFamily="34" charset="-122"/>
                <a:cs typeface="Arial" pitchFamily="34" charset="-120"/>
              </a:rPr>
              <a:t>36</a:t>
            </a:r>
            <a:endParaRPr lang="en-US" sz="1600" dirty="0"/>
          </a:p>
        </p:txBody>
      </p:sp>
      <p:sp>
        <p:nvSpPr>
          <p:cNvPr id="9" name="Text 7"/>
          <p:cNvSpPr/>
          <p:nvPr/>
        </p:nvSpPr>
        <p:spPr>
          <a:xfrm>
            <a:off x="914400" y="4343400"/>
            <a:ext cx="1737360" cy="228600"/>
          </a:xfrm>
          <a:prstGeom prst="rect">
            <a:avLst/>
          </a:prstGeom>
          <a:noFill/>
          <a:ln/>
        </p:spPr>
        <p:txBody>
          <a:bodyPr wrap="square" rtlCol="0" anchor="ctr"/>
          <a:lstStyle/>
          <a:p>
            <a:pPr algn="ctr" indent="0" marL="0">
              <a:buNone/>
            </a:pPr>
            <a:r>
              <a:rPr lang="en-US" sz="900" dirty="0">
                <a:solidFill>
                  <a:srgbClr val="A3A3A3"/>
                </a:solidFill>
                <a:latin typeface="Arial" pitchFamily="34" charset="0"/>
                <a:ea typeface="Arial" pitchFamily="34" charset="-122"/>
                <a:cs typeface="Arial" pitchFamily="34" charset="-120"/>
              </a:rPr>
              <a:t>Halaman Ditangkap</a:t>
            </a:r>
            <a:endParaRPr lang="en-US" sz="900" dirty="0"/>
          </a:p>
        </p:txBody>
      </p:sp>
      <p:sp>
        <p:nvSpPr>
          <p:cNvPr id="10" name="Shape 8"/>
          <p:cNvSpPr/>
          <p:nvPr/>
        </p:nvSpPr>
        <p:spPr>
          <a:xfrm>
            <a:off x="2834640" y="3931920"/>
            <a:ext cx="1737360" cy="731520"/>
          </a:xfrm>
          <a:prstGeom prst="roundRect">
            <a:avLst>
              <a:gd name="adj" fmla="val 10000"/>
            </a:avLst>
          </a:prstGeom>
          <a:solidFill>
            <a:srgbClr val="1F1E1D"/>
          </a:solidFill>
          <a:ln w="12700">
            <a:solidFill>
              <a:srgbClr val="333333"/>
            </a:solidFill>
            <a:prstDash val="solid"/>
          </a:ln>
        </p:spPr>
      </p:sp>
      <p:sp>
        <p:nvSpPr>
          <p:cNvPr id="11" name="Text 9"/>
          <p:cNvSpPr/>
          <p:nvPr/>
        </p:nvSpPr>
        <p:spPr>
          <a:xfrm>
            <a:off x="2834640" y="4005072"/>
            <a:ext cx="1737360" cy="320040"/>
          </a:xfrm>
          <a:prstGeom prst="rect">
            <a:avLst/>
          </a:prstGeom>
          <a:noFill/>
          <a:ln/>
        </p:spPr>
        <p:txBody>
          <a:bodyPr wrap="square" rtlCol="0" anchor="ctr"/>
          <a:lstStyle/>
          <a:p>
            <a:pPr algn="ctr" indent="0" marL="0">
              <a:buNone/>
            </a:pPr>
            <a:r>
              <a:rPr lang="en-US" sz="1600" b="1" dirty="0">
                <a:solidFill>
                  <a:srgbClr val="D4AF37"/>
                </a:solidFill>
                <a:latin typeface="Arial" pitchFamily="34" charset="0"/>
                <a:ea typeface="Arial" pitchFamily="34" charset="-122"/>
                <a:cs typeface="Arial" pitchFamily="34" charset="-120"/>
              </a:rPr>
              <a:t>72+</a:t>
            </a:r>
            <a:endParaRPr lang="en-US" sz="1600" dirty="0"/>
          </a:p>
        </p:txBody>
      </p:sp>
      <p:sp>
        <p:nvSpPr>
          <p:cNvPr id="12" name="Text 10"/>
          <p:cNvSpPr/>
          <p:nvPr/>
        </p:nvSpPr>
        <p:spPr>
          <a:xfrm>
            <a:off x="2834640" y="4343400"/>
            <a:ext cx="1737360" cy="228600"/>
          </a:xfrm>
          <a:prstGeom prst="rect">
            <a:avLst/>
          </a:prstGeom>
          <a:noFill/>
          <a:ln/>
        </p:spPr>
        <p:txBody>
          <a:bodyPr wrap="square" rtlCol="0" anchor="ctr"/>
          <a:lstStyle/>
          <a:p>
            <a:pPr algn="ctr" indent="0" marL="0">
              <a:buNone/>
            </a:pPr>
            <a:r>
              <a:rPr lang="en-US" sz="900" dirty="0">
                <a:solidFill>
                  <a:srgbClr val="A3A3A3"/>
                </a:solidFill>
                <a:latin typeface="Arial" pitchFamily="34" charset="0"/>
                <a:ea typeface="Arial" pitchFamily="34" charset="-122"/>
                <a:cs typeface="Arial" pitchFamily="34" charset="-120"/>
              </a:rPr>
              <a:t>Fitur &amp; Aksi Dianalisis</a:t>
            </a:r>
            <a:endParaRPr lang="en-US" sz="900" dirty="0"/>
          </a:p>
        </p:txBody>
      </p:sp>
      <p:sp>
        <p:nvSpPr>
          <p:cNvPr id="13" name="Shape 11"/>
          <p:cNvSpPr/>
          <p:nvPr/>
        </p:nvSpPr>
        <p:spPr>
          <a:xfrm>
            <a:off x="4754880" y="3931920"/>
            <a:ext cx="1737360" cy="731520"/>
          </a:xfrm>
          <a:prstGeom prst="roundRect">
            <a:avLst>
              <a:gd name="adj" fmla="val 10000"/>
            </a:avLst>
          </a:prstGeom>
          <a:solidFill>
            <a:srgbClr val="1F1E1D"/>
          </a:solidFill>
          <a:ln w="12700">
            <a:solidFill>
              <a:srgbClr val="333333"/>
            </a:solidFill>
            <a:prstDash val="solid"/>
          </a:ln>
        </p:spPr>
      </p:sp>
      <p:sp>
        <p:nvSpPr>
          <p:cNvPr id="14" name="Text 12"/>
          <p:cNvSpPr/>
          <p:nvPr/>
        </p:nvSpPr>
        <p:spPr>
          <a:xfrm>
            <a:off x="4754880" y="4005072"/>
            <a:ext cx="1737360" cy="320040"/>
          </a:xfrm>
          <a:prstGeom prst="rect">
            <a:avLst/>
          </a:prstGeom>
          <a:noFill/>
          <a:ln/>
        </p:spPr>
        <p:txBody>
          <a:bodyPr wrap="square" rtlCol="0" anchor="ctr"/>
          <a:lstStyle/>
          <a:p>
            <a:pPr algn="ctr" indent="0" marL="0">
              <a:buNone/>
            </a:pPr>
            <a:r>
              <a:rPr lang="en-US" sz="1600" b="1" dirty="0">
                <a:solidFill>
                  <a:srgbClr val="D4AF37"/>
                </a:solidFill>
                <a:latin typeface="Arial" pitchFamily="34" charset="0"/>
                <a:ea typeface="Arial" pitchFamily="34" charset="-122"/>
                <a:cs typeface="Arial" pitchFamily="34" charset="-120"/>
              </a:rPr>
              <a:t>3 Roles</a:t>
            </a:r>
            <a:endParaRPr lang="en-US" sz="1600" dirty="0"/>
          </a:p>
        </p:txBody>
      </p:sp>
      <p:sp>
        <p:nvSpPr>
          <p:cNvPr id="15" name="Text 13"/>
          <p:cNvSpPr/>
          <p:nvPr/>
        </p:nvSpPr>
        <p:spPr>
          <a:xfrm>
            <a:off x="4754880" y="4343400"/>
            <a:ext cx="1737360" cy="228600"/>
          </a:xfrm>
          <a:prstGeom prst="rect">
            <a:avLst/>
          </a:prstGeom>
          <a:noFill/>
          <a:ln/>
        </p:spPr>
        <p:txBody>
          <a:bodyPr wrap="square" rtlCol="0" anchor="ctr"/>
          <a:lstStyle/>
          <a:p>
            <a:pPr algn="ctr" indent="0" marL="0">
              <a:buNone/>
            </a:pPr>
            <a:r>
              <a:rPr lang="en-US" sz="900" dirty="0">
                <a:solidFill>
                  <a:srgbClr val="A3A3A3"/>
                </a:solidFill>
                <a:latin typeface="Arial" pitchFamily="34" charset="0"/>
                <a:ea typeface="Arial" pitchFamily="34" charset="-122"/>
                <a:cs typeface="Arial" pitchFamily="34" charset="-120"/>
              </a:rPr>
              <a:t>Public, User, Admin</a:t>
            </a:r>
            <a:endParaRPr lang="en-US" sz="900" dirty="0"/>
          </a:p>
        </p:txBody>
      </p:sp>
      <p:sp>
        <p:nvSpPr>
          <p:cNvPr id="16" name="Shape 14"/>
          <p:cNvSpPr/>
          <p:nvPr/>
        </p:nvSpPr>
        <p:spPr>
          <a:xfrm>
            <a:off x="6675120" y="3931920"/>
            <a:ext cx="1737360" cy="731520"/>
          </a:xfrm>
          <a:prstGeom prst="roundRect">
            <a:avLst>
              <a:gd name="adj" fmla="val 10000"/>
            </a:avLst>
          </a:prstGeom>
          <a:solidFill>
            <a:srgbClr val="1F1E1D"/>
          </a:solidFill>
          <a:ln w="12700">
            <a:solidFill>
              <a:srgbClr val="333333"/>
            </a:solidFill>
            <a:prstDash val="solid"/>
          </a:ln>
        </p:spPr>
      </p:sp>
      <p:sp>
        <p:nvSpPr>
          <p:cNvPr id="17" name="Text 15"/>
          <p:cNvSpPr/>
          <p:nvPr/>
        </p:nvSpPr>
        <p:spPr>
          <a:xfrm>
            <a:off x="6675120" y="4005072"/>
            <a:ext cx="1737360" cy="320040"/>
          </a:xfrm>
          <a:prstGeom prst="rect">
            <a:avLst/>
          </a:prstGeom>
          <a:noFill/>
          <a:ln/>
        </p:spPr>
        <p:txBody>
          <a:bodyPr wrap="square" rtlCol="0" anchor="ctr"/>
          <a:lstStyle/>
          <a:p>
            <a:pPr algn="ctr" indent="0" marL="0">
              <a:buNone/>
            </a:pPr>
            <a:r>
              <a:rPr lang="en-US" sz="1600" b="1" dirty="0">
                <a:solidFill>
                  <a:srgbClr val="D4AF37"/>
                </a:solidFill>
                <a:latin typeface="Arial" pitchFamily="34" charset="0"/>
                <a:ea typeface="Arial" pitchFamily="34" charset="-122"/>
                <a:cs typeface="Arial" pitchFamily="34" charset="-120"/>
              </a:rPr>
              <a:t>100%</a:t>
            </a:r>
            <a:endParaRPr lang="en-US" sz="1600" dirty="0"/>
          </a:p>
        </p:txBody>
      </p:sp>
      <p:sp>
        <p:nvSpPr>
          <p:cNvPr id="18" name="Text 16"/>
          <p:cNvSpPr/>
          <p:nvPr/>
        </p:nvSpPr>
        <p:spPr>
          <a:xfrm>
            <a:off x="6675120" y="4343400"/>
            <a:ext cx="1737360" cy="228600"/>
          </a:xfrm>
          <a:prstGeom prst="rect">
            <a:avLst/>
          </a:prstGeom>
          <a:noFill/>
          <a:ln/>
        </p:spPr>
        <p:txBody>
          <a:bodyPr wrap="square" rtlCol="0" anchor="ctr"/>
          <a:lstStyle/>
          <a:p>
            <a:pPr algn="ctr" indent="0" marL="0">
              <a:buNone/>
            </a:pPr>
            <a:r>
              <a:rPr lang="en-US" sz="900" dirty="0">
                <a:solidFill>
                  <a:srgbClr val="A3A3A3"/>
                </a:solidFill>
                <a:latin typeface="Arial" pitchFamily="34" charset="0"/>
                <a:ea typeface="Arial" pitchFamily="34" charset="-122"/>
                <a:cs typeface="Arial" pitchFamily="34" charset="-120"/>
              </a:rPr>
              <a:t>Screenshot Browser Nyata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000" b="1" dirty="0">
                <a:solidFill>
                  <a:srgbClr val="B45309"/>
                </a:solidFill>
                <a:latin typeface="Arial" pitchFamily="34" charset="0"/>
                <a:ea typeface="Arial" pitchFamily="34" charset="-122"/>
                <a:cs typeface="Arial" pitchFamily="34" charset="-120"/>
              </a:rPr>
              <a:t>TABLE OF CONTENTS</a:t>
            </a:r>
            <a:endParaRPr lang="en-US" sz="1000" dirty="0"/>
          </a:p>
        </p:txBody>
      </p:sp>
      <p:sp>
        <p:nvSpPr>
          <p:cNvPr id="3" name="Text 1"/>
          <p:cNvSpPr/>
          <p:nvPr/>
        </p:nvSpPr>
        <p:spPr>
          <a:xfrm>
            <a:off x="731520" y="822960"/>
            <a:ext cx="7315200" cy="457200"/>
          </a:xfrm>
          <a:prstGeom prst="rect">
            <a:avLst/>
          </a:prstGeom>
          <a:noFill/>
          <a:ln/>
        </p:spPr>
        <p:txBody>
          <a:bodyPr wrap="square" rtlCol="0" anchor="ctr"/>
          <a:lstStyle/>
          <a:p>
            <a:pPr indent="0" marL="0">
              <a:buNone/>
            </a:pPr>
            <a:r>
              <a:rPr lang="en-US" sz="2400" b="1" dirty="0">
                <a:solidFill>
                  <a:srgbClr val="141312"/>
                </a:solidFill>
                <a:latin typeface="Georgia" pitchFamily="34" charset="0"/>
                <a:ea typeface="Georgia" pitchFamily="34" charset="-122"/>
                <a:cs typeface="Georgia" pitchFamily="34" charset="-120"/>
              </a:rPr>
              <a:t>Struktur &amp; Modul Navigasi Aplikasi</a:t>
            </a:r>
            <a:endParaRPr lang="en-US" sz="2400" dirty="0"/>
          </a:p>
        </p:txBody>
      </p:sp>
      <p:sp>
        <p:nvSpPr>
          <p:cNvPr id="4" name="Shape 2"/>
          <p:cNvSpPr/>
          <p:nvPr/>
        </p:nvSpPr>
        <p:spPr>
          <a:xfrm>
            <a:off x="731520" y="1463040"/>
            <a:ext cx="7680960" cy="914400"/>
          </a:xfrm>
          <a:prstGeom prst="roundRect">
            <a:avLst>
              <a:gd name="adj" fmla="val 10000"/>
            </a:avLst>
          </a:prstGeom>
          <a:solidFill>
            <a:srgbClr val="FFFFFF"/>
          </a:solidFill>
          <a:ln w="12700">
            <a:solidFill>
              <a:srgbClr val="E5E5E5"/>
            </a:solidFill>
            <a:prstDash val="solid"/>
          </a:ln>
        </p:spPr>
      </p:sp>
      <p:sp>
        <p:nvSpPr>
          <p:cNvPr id="5" name="Shape 3"/>
          <p:cNvSpPr/>
          <p:nvPr/>
        </p:nvSpPr>
        <p:spPr>
          <a:xfrm>
            <a:off x="731520" y="1463040"/>
            <a:ext cx="137160" cy="914400"/>
          </a:xfrm>
          <a:prstGeom prst="rect">
            <a:avLst/>
          </a:prstGeom>
          <a:solidFill>
            <a:srgbClr val="3B82F6"/>
          </a:solidFill>
          <a:ln/>
        </p:spPr>
      </p:sp>
      <p:sp>
        <p:nvSpPr>
          <p:cNvPr id="6" name="Text 4"/>
          <p:cNvSpPr/>
          <p:nvPr/>
        </p:nvSpPr>
        <p:spPr>
          <a:xfrm>
            <a:off x="1097280" y="1600200"/>
            <a:ext cx="7132320" cy="274320"/>
          </a:xfrm>
          <a:prstGeom prst="rect">
            <a:avLst/>
          </a:prstGeom>
          <a:noFill/>
          <a:ln/>
        </p:spPr>
        <p:txBody>
          <a:bodyPr wrap="square" rtlCol="0" anchor="ctr"/>
          <a:lstStyle/>
          <a:p>
            <a:pPr indent="0" marL="0">
              <a:buNone/>
            </a:pPr>
            <a:r>
              <a:rPr lang="en-US" sz="1400" b="1" dirty="0">
                <a:solidFill>
                  <a:srgbClr val="141312"/>
                </a:solidFill>
                <a:latin typeface="Arial" pitchFamily="34" charset="0"/>
                <a:ea typeface="Arial" pitchFamily="34" charset="-122"/>
                <a:cs typeface="Arial" pitchFamily="34" charset="-120"/>
              </a:rPr>
              <a:t>Bagian 1: Public &amp; Discovery (15 Halaman)</a:t>
            </a:r>
            <a:endParaRPr lang="en-US" sz="1400" dirty="0"/>
          </a:p>
        </p:txBody>
      </p:sp>
      <p:sp>
        <p:nvSpPr>
          <p:cNvPr id="7" name="Text 5"/>
          <p:cNvSpPr/>
          <p:nvPr/>
        </p:nvSpPr>
        <p:spPr>
          <a:xfrm>
            <a:off x="1097280" y="1874520"/>
            <a:ext cx="7132320" cy="411480"/>
          </a:xfrm>
          <a:prstGeom prst="rect">
            <a:avLst/>
          </a:prstGeom>
          <a:noFill/>
          <a:ln/>
        </p:spPr>
        <p:txBody>
          <a:bodyPr wrap="square" rtlCol="0" anchor="ctr"/>
          <a:lstStyle/>
          <a:p>
            <a:pPr indent="0" marL="0">
              <a:lnSpc>
                <a:spcPts val="1400"/>
              </a:lnSpc>
              <a:buNone/>
            </a:pPr>
            <a:r>
              <a:rPr lang="en-US" sz="1050" dirty="0">
                <a:solidFill>
                  <a:srgbClr val="737373"/>
                </a:solidFill>
                <a:latin typeface="Arial" pitchFamily="34" charset="0"/>
                <a:ea typeface="Arial" pitchFamily="34" charset="-122"/>
                <a:cs typeface="Arial" pitchFamily="34" charset="-120"/>
              </a:rPr>
              <a:t>Homepage editorial, katalog paket wisata, detail itinerary, eksplorasi destinasi benua, perencana AI cerdas (Gemini AI), FAQ, ulasan tamu, dan alur pendaftaran akun.</a:t>
            </a:r>
            <a:endParaRPr lang="en-US" sz="1050" dirty="0"/>
          </a:p>
        </p:txBody>
      </p:sp>
      <p:sp>
        <p:nvSpPr>
          <p:cNvPr id="8" name="Shape 6"/>
          <p:cNvSpPr/>
          <p:nvPr/>
        </p:nvSpPr>
        <p:spPr>
          <a:xfrm>
            <a:off x="731520" y="2560320"/>
            <a:ext cx="7680960" cy="914400"/>
          </a:xfrm>
          <a:prstGeom prst="roundRect">
            <a:avLst>
              <a:gd name="adj" fmla="val 10000"/>
            </a:avLst>
          </a:prstGeom>
          <a:solidFill>
            <a:srgbClr val="FFFFFF"/>
          </a:solidFill>
          <a:ln w="12700">
            <a:solidFill>
              <a:srgbClr val="E5E5E5"/>
            </a:solidFill>
            <a:prstDash val="solid"/>
          </a:ln>
        </p:spPr>
      </p:sp>
      <p:sp>
        <p:nvSpPr>
          <p:cNvPr id="9" name="Shape 7"/>
          <p:cNvSpPr/>
          <p:nvPr/>
        </p:nvSpPr>
        <p:spPr>
          <a:xfrm>
            <a:off x="731520" y="2560320"/>
            <a:ext cx="137160" cy="914400"/>
          </a:xfrm>
          <a:prstGeom prst="rect">
            <a:avLst/>
          </a:prstGeom>
          <a:solidFill>
            <a:srgbClr val="10B981"/>
          </a:solidFill>
          <a:ln/>
        </p:spPr>
      </p:sp>
      <p:sp>
        <p:nvSpPr>
          <p:cNvPr id="10" name="Text 8"/>
          <p:cNvSpPr/>
          <p:nvPr/>
        </p:nvSpPr>
        <p:spPr>
          <a:xfrm>
            <a:off x="1097280" y="2697480"/>
            <a:ext cx="7132320" cy="274320"/>
          </a:xfrm>
          <a:prstGeom prst="rect">
            <a:avLst/>
          </a:prstGeom>
          <a:noFill/>
          <a:ln/>
        </p:spPr>
        <p:txBody>
          <a:bodyPr wrap="square" rtlCol="0" anchor="ctr"/>
          <a:lstStyle/>
          <a:p>
            <a:pPr indent="0" marL="0">
              <a:buNone/>
            </a:pPr>
            <a:r>
              <a:rPr lang="en-US" sz="1400" b="1" dirty="0">
                <a:solidFill>
                  <a:srgbClr val="141312"/>
                </a:solidFill>
                <a:latin typeface="Arial" pitchFamily="34" charset="0"/>
                <a:ea typeface="Arial" pitchFamily="34" charset="-122"/>
                <a:cs typeface="Arial" pitchFamily="34" charset="-120"/>
              </a:rPr>
              <a:t>Bagian 2: User Booking &amp; Dashboard (11 Halaman)</a:t>
            </a:r>
            <a:endParaRPr lang="en-US" sz="1400" dirty="0"/>
          </a:p>
        </p:txBody>
      </p:sp>
      <p:sp>
        <p:nvSpPr>
          <p:cNvPr id="11" name="Text 9"/>
          <p:cNvSpPr/>
          <p:nvPr/>
        </p:nvSpPr>
        <p:spPr>
          <a:xfrm>
            <a:off x="1097280" y="2971800"/>
            <a:ext cx="7132320" cy="411480"/>
          </a:xfrm>
          <a:prstGeom prst="rect">
            <a:avLst/>
          </a:prstGeom>
          <a:noFill/>
          <a:ln/>
        </p:spPr>
        <p:txBody>
          <a:bodyPr wrap="square" rtlCol="0" anchor="ctr"/>
          <a:lstStyle/>
          <a:p>
            <a:pPr indent="0" marL="0">
              <a:lnSpc>
                <a:spcPts val="1400"/>
              </a:lnSpc>
              <a:buNone/>
            </a:pPr>
            <a:r>
              <a:rPr lang="en-US" sz="1050" dirty="0">
                <a:solidFill>
                  <a:srgbClr val="737373"/>
                </a:solidFill>
                <a:latin typeface="Arial" pitchFamily="34" charset="0"/>
                <a:ea typeface="Arial" pitchFamily="34" charset="-122"/>
                <a:cs typeface="Arial" pitchFamily="34" charset="-120"/>
              </a:rPr>
              <a:t>Formulir multi-step booking rombongan, integrasi gerbang bayar Midtrans (VA/QRIS/CC), tiket boarding pass digital, wishlist, dan notifikasi akun anggota.</a:t>
            </a:r>
            <a:endParaRPr lang="en-US" sz="1050" dirty="0"/>
          </a:p>
        </p:txBody>
      </p:sp>
      <p:sp>
        <p:nvSpPr>
          <p:cNvPr id="12" name="Shape 10"/>
          <p:cNvSpPr/>
          <p:nvPr/>
        </p:nvSpPr>
        <p:spPr>
          <a:xfrm>
            <a:off x="731520" y="3657600"/>
            <a:ext cx="7680960" cy="914400"/>
          </a:xfrm>
          <a:prstGeom prst="roundRect">
            <a:avLst>
              <a:gd name="adj" fmla="val 10000"/>
            </a:avLst>
          </a:prstGeom>
          <a:solidFill>
            <a:srgbClr val="FFFFFF"/>
          </a:solidFill>
          <a:ln w="12700">
            <a:solidFill>
              <a:srgbClr val="E5E5E5"/>
            </a:solidFill>
            <a:prstDash val="solid"/>
          </a:ln>
        </p:spPr>
      </p:sp>
      <p:sp>
        <p:nvSpPr>
          <p:cNvPr id="13" name="Shape 11"/>
          <p:cNvSpPr/>
          <p:nvPr/>
        </p:nvSpPr>
        <p:spPr>
          <a:xfrm>
            <a:off x="731520" y="3657600"/>
            <a:ext cx="137160" cy="914400"/>
          </a:xfrm>
          <a:prstGeom prst="rect">
            <a:avLst/>
          </a:prstGeom>
          <a:solidFill>
            <a:srgbClr val="EF4444"/>
          </a:solidFill>
          <a:ln/>
        </p:spPr>
      </p:sp>
      <p:sp>
        <p:nvSpPr>
          <p:cNvPr id="14" name="Text 12"/>
          <p:cNvSpPr/>
          <p:nvPr/>
        </p:nvSpPr>
        <p:spPr>
          <a:xfrm>
            <a:off x="1097280" y="3794760"/>
            <a:ext cx="7132320" cy="274320"/>
          </a:xfrm>
          <a:prstGeom prst="rect">
            <a:avLst/>
          </a:prstGeom>
          <a:noFill/>
          <a:ln/>
        </p:spPr>
        <p:txBody>
          <a:bodyPr wrap="square" rtlCol="0" anchor="ctr"/>
          <a:lstStyle/>
          <a:p>
            <a:pPr indent="0" marL="0">
              <a:buNone/>
            </a:pPr>
            <a:r>
              <a:rPr lang="en-US" sz="1400" b="1" dirty="0">
                <a:solidFill>
                  <a:srgbClr val="141312"/>
                </a:solidFill>
                <a:latin typeface="Arial" pitchFamily="34" charset="0"/>
                <a:ea typeface="Arial" pitchFamily="34" charset="-122"/>
                <a:cs typeface="Arial" pitchFamily="34" charset="-120"/>
              </a:rPr>
              <a:t>Bagian 3: Admin Portal &amp; CMS (10 Halaman)</a:t>
            </a:r>
            <a:endParaRPr lang="en-US" sz="1400" dirty="0"/>
          </a:p>
        </p:txBody>
      </p:sp>
      <p:sp>
        <p:nvSpPr>
          <p:cNvPr id="15" name="Text 13"/>
          <p:cNvSpPr/>
          <p:nvPr/>
        </p:nvSpPr>
        <p:spPr>
          <a:xfrm>
            <a:off x="1097280" y="4069080"/>
            <a:ext cx="7132320" cy="411480"/>
          </a:xfrm>
          <a:prstGeom prst="rect">
            <a:avLst/>
          </a:prstGeom>
          <a:noFill/>
          <a:ln/>
        </p:spPr>
        <p:txBody>
          <a:bodyPr wrap="square" rtlCol="0" anchor="ctr"/>
          <a:lstStyle/>
          <a:p>
            <a:pPr indent="0" marL="0">
              <a:lnSpc>
                <a:spcPts val="1400"/>
              </a:lnSpc>
              <a:buNone/>
            </a:pPr>
            <a:r>
              <a:rPr lang="en-US" sz="1050" dirty="0">
                <a:solidFill>
                  <a:srgbClr val="737373"/>
                </a:solidFill>
                <a:latin typeface="Arial" pitchFamily="34" charset="0"/>
                <a:ea typeface="Arial" pitchFamily="34" charset="-122"/>
                <a:cs typeface="Arial" pitchFamily="34" charset="-120"/>
              </a:rPr>
              <a:t>Executive analytics dashboard, CRUD katalog tur, kuota keberangkatan, approval refund dana tamu, RBAC hak akses staf, audit log forensik, dan unduh laporan PDF resmi.</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01</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Homepage &amp; Luxury Showcase</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t>
            </a:r>
            <a:endParaRPr lang="en-US" sz="750" dirty="0"/>
          </a:p>
        </p:txBody>
      </p:sp>
      <p:pic>
        <p:nvPicPr>
          <p:cNvPr id="14" name="Image 0" descr="C:\Users\lulus\Dominator\nova-next\public\docs\screenshots\home.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ini merupakan pintu masuk utama aplikasi Nova Travel. Pengunjung disajikan pengalaman visual editorial mewah, sorotan destinasi populer dunia, video hero atmosferik, dan akses cepat ke pencarian paket tur serta perencana AI.</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Luxury Header Navigation: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Menu navigasi atas transparan/solid dengan logo NOVA, link destinasi, paket, dan tombol masuk.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Hero Cinematic Banner: </a:t>
            </a:r>
            <a:pPr indent="0" marL="0">
              <a:lnSpc>
                <a:spcPts val="1000"/>
              </a:lnSpc>
              <a:buNone/>
            </a:pPr>
            <a:r>
              <a:rPr lang="en-US" sz="750" dirty="0">
                <a:solidFill>
                  <a:srgbClr val="525252"/>
                </a:solidFill>
                <a:latin typeface="Arial" pitchFamily="34" charset="0"/>
                <a:ea typeface="Arial" pitchFamily="34" charset="-122"/>
                <a:cs typeface="Arial" pitchFamily="34" charset="-120"/>
              </a:rPr>
              <a:t>Area visual utama dengan judul editorial mewah dan tombol Call To Action (CTA).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Quick Discovery Search: </a:t>
            </a:r>
            <a:pPr indent="0" marL="0">
              <a:lnSpc>
                <a:spcPts val="1000"/>
              </a:lnSpc>
              <a:buNone/>
            </a:pPr>
            <a:r>
              <a:rPr lang="en-US" sz="750" dirty="0">
                <a:solidFill>
                  <a:srgbClr val="525252"/>
                </a:solidFill>
                <a:latin typeface="Arial" pitchFamily="34" charset="0"/>
                <a:ea typeface="Arial" pitchFamily="34" charset="-122"/>
                <a:cs typeface="Arial" pitchFamily="34" charset="-120"/>
              </a:rPr>
              <a:t>Widget input untuk mencari negara, kota tujuan, dan tanggal keberangkatan.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Jelajahi Paket: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katalog paket tur lengkap.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Rencanakan dengan AI: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asisten pembuat itinerary otomatis.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Cari Destinasi: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Melakukan query pencarian destinasi.</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02</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Katalog Paket Wisata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https://novatravel.com/packages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novatravel.com/packages</a:t>
            </a:r>
            <a:endParaRPr lang="en-US" sz="750" dirty="0"/>
          </a:p>
        </p:txBody>
      </p:sp>
      <p:pic>
        <p:nvPicPr>
          <p:cNvPr id="14" name="Image 0" descr="C:\Users\lulus\Dominator\nova-next\public\docs\screenshots\package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ini menyajikan seluruh katalog perjalanan wisata yang disediakan oleh Nova Travel. Tamu dapat memfilter paket berdasarkan negara tujuan, rentang harga, durasi hari, dan jenis gaya liburan (romantic, luxury, adventure).</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Filter Sidebar / Topbar: </a:t>
            </a:r>
            <a:pPr indent="0" marL="0">
              <a:lnSpc>
                <a:spcPts val="1000"/>
              </a:lnSpc>
              <a:buNone/>
            </a:pPr>
            <a:r>
              <a:rPr lang="en-US" sz="750" dirty="0">
                <a:solidFill>
                  <a:srgbClr val="525252"/>
                </a:solidFill>
                <a:latin typeface="Arial" pitchFamily="34" charset="0"/>
                <a:ea typeface="Arial" pitchFamily="34" charset="-122"/>
                <a:cs typeface="Arial" pitchFamily="34" charset="-120"/>
              </a:rPr>
              <a:t>Kontrol penyaringan kategori liburan, negara, dan slider batasan harga.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Sorting &amp; Counter Bar: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Menampilkan total paket ditemukan serta opsi pengurutan urutan tampil.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Package Card Collection: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Grid kartu paket tur dengan thumbnail foto HD, badge negara, bintang rating, dan durasi malam.</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Filter Kategori: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Menyaring paket sesuai tema liburan.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Simpan ke Wishlist: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Menandai paket ke daftar favorit pengguna.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Lihat Detail Paket: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informasi komprehensif paket.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03</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Detail Paket Wisata &amp; Itinerary</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https://novatravel.com/packages/paris-french-riviera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novatravel.com/packages/paris-french-riviera</a:t>
            </a:r>
            <a:endParaRPr lang="en-US" sz="750" dirty="0"/>
          </a:p>
        </p:txBody>
      </p:sp>
      <p:pic>
        <p:nvPicPr>
          <p:cNvPr id="14" name="Image 0" descr="C:\Users\lulus\Dominator\nova-next\public\docs\screenshots\package-detail.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ini memberikan transparansi penuh tentang apa saja yang akan didapatkan wisatawan dalam satu paket perjalanan. Menampilkan galeri foto interaktif, rincian jadwal hari per hari (day-by-day itinerary), hotel berbintang, dan pemilihan slot jadwal keberangkatan.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Photo Gallery Showcase: </a:t>
            </a:r>
            <a:pPr indent="0" marL="0">
              <a:lnSpc>
                <a:spcPts val="1000"/>
              </a:lnSpc>
              <a:buNone/>
            </a:pPr>
            <a:r>
              <a:rPr lang="en-US" sz="750" dirty="0">
                <a:solidFill>
                  <a:srgbClr val="525252"/>
                </a:solidFill>
                <a:latin typeface="Arial" pitchFamily="34" charset="0"/>
                <a:ea typeface="Arial" pitchFamily="34" charset="-122"/>
                <a:cs typeface="Arial" pitchFamily="34" charset="-120"/>
              </a:rPr>
              <a:t>Kumpulan visual hotel, pemandangan, dan aktivitas utama.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Package Title &amp; Highlights: </a:t>
            </a:r>
            <a:pPr indent="0" marL="0">
              <a:lnSpc>
                <a:spcPts val="1000"/>
              </a:lnSpc>
              <a:buNone/>
            </a:pPr>
            <a:r>
              <a:rPr lang="en-US" sz="750" dirty="0">
                <a:solidFill>
                  <a:srgbClr val="525252"/>
                </a:solidFill>
                <a:latin typeface="Arial" pitchFamily="34" charset="0"/>
                <a:ea typeface="Arial" pitchFamily="34" charset="-122"/>
                <a:cs typeface="Arial" pitchFamily="34" charset="-120"/>
              </a:rPr>
              <a:t>Judul paket, lokasi negara, kategori, dan rating ulasan terverifikasi.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Day-by-Day Itinerary Accordion: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Rincian terstruktur setiap kegiatan pagi, siang, dan malam selama tur berlangsung.</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Pilih Tanggal Berangkat: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Memilih jadwal keberangkatan yang diinginkan.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Mulai Pemesanan (Book Now):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Mengarahkan ke formulir pemesanan tamu.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Bagikan Paket (Share):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Menyalin tautan paket ke clipboard atau WhatsApp.</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04</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Eksplorasi Destinasi Dunia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https://novatravel.com/destinations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novatravel.com/destinations</a:t>
            </a:r>
            <a:endParaRPr lang="en-US" sz="750" dirty="0"/>
          </a:p>
        </p:txBody>
      </p:sp>
      <p:pic>
        <p:nvPicPr>
          <p:cNvPr id="14" name="Image 0" descr="C:\Users\lulus\Dominator\nova-next\public\docs\screenshots\destination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ini dirancang untuk menginspirasi wisatawan menentukan destinasi impian. Disusun berdasarkan benua (Eropa, Asia, Amerika, Afrika, Oseania) dan dilengkapi dengan kartu destinasi estetis yang memuat foto ikonik dan ikhtisar cuaca/musim terbaik untuk berkunjung.</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Continent Filter Tabs: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 untuk memilah destinasi per kawasan dunia.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Destination Grid Cards: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visual kota dan negara dengan efek hover animasi halus.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Package Counter Badge: </a:t>
            </a:r>
            <a:pPr indent="0" marL="0">
              <a:lnSpc>
                <a:spcPts val="1000"/>
              </a:lnSpc>
              <a:buNone/>
            </a:pPr>
            <a:r>
              <a:rPr lang="en-US" sz="750" dirty="0">
                <a:solidFill>
                  <a:srgbClr val="525252"/>
                </a:solidFill>
                <a:latin typeface="Arial" pitchFamily="34" charset="0"/>
                <a:ea typeface="Arial" pitchFamily="34" charset="-122"/>
                <a:cs typeface="Arial" pitchFamily="34" charset="-120"/>
              </a:rPr>
              <a:t>Indikator jumlah paket perjalanan yang sedang aktif di destinasi tersebut.</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Pilih Benua: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Menyaring daftar kota di kawasan tertentu.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Buka Detail Destinasi: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Melihat daya tarik wisata dan paket terkait.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05</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Detail Destinasi Kota / Negara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https://novatravel.com/destinations/2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novatravel.com/destinations/2</a:t>
            </a:r>
            <a:endParaRPr lang="en-US" sz="750" dirty="0"/>
          </a:p>
        </p:txBody>
      </p:sp>
      <p:pic>
        <p:nvPicPr>
          <p:cNvPr id="14" name="Image 0" descr="C:\Users\lulus\Dominator\nova-next\public\docs\screenshots\destination-detail.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Menampilkan ulasan mendalam mengenai suatu kota atau negara tertentu (contoh: Tokyo, Paris, Roma). Menghadirkan tempat wisata populer (attractions), rekomendasi kuliner lokal, informasi visa, serta paket tur eksklusif yang beroperasi di wilayah tersebut.</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City Header Banner: </a:t>
            </a:r>
            <a:pPr indent="0" marL="0">
              <a:lnSpc>
                <a:spcPts val="1000"/>
              </a:lnSpc>
              <a:buNone/>
            </a:pPr>
            <a:r>
              <a:rPr lang="en-US" sz="750" dirty="0">
                <a:solidFill>
                  <a:srgbClr val="525252"/>
                </a:solidFill>
                <a:latin typeface="Arial" pitchFamily="34" charset="0"/>
                <a:ea typeface="Arial" pitchFamily="34" charset="-122"/>
                <a:cs typeface="Arial" pitchFamily="34" charset="-120"/>
              </a:rPr>
              <a:t>Banner visual lanskap kota dengan ringkasan singkat geografis.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Top Attractions List: </a:t>
            </a:r>
            <a:pPr indent="0" marL="0">
              <a:lnSpc>
                <a:spcPts val="1000"/>
              </a:lnSpc>
              <a:buNone/>
            </a:pPr>
            <a:r>
              <a:rPr lang="en-US" sz="750" dirty="0">
                <a:solidFill>
                  <a:srgbClr val="525252"/>
                </a:solidFill>
                <a:latin typeface="Arial" pitchFamily="34" charset="0"/>
                <a:ea typeface="Arial" pitchFamily="34" charset="-122"/>
                <a:cs typeface="Arial" pitchFamily="34" charset="-120"/>
              </a:rPr>
              <a:t>Daftar objek wisata ikonik yang wajib dikunjungi di kota ini.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Available Tour Packages: </a:t>
            </a:r>
            <a:pPr indent="0" marL="0">
              <a:lnSpc>
                <a:spcPts val="1000"/>
              </a:lnSpc>
              <a:buNone/>
            </a:pPr>
            <a:r>
              <a:rPr lang="en-US" sz="750" dirty="0">
                <a:solidFill>
                  <a:srgbClr val="525252"/>
                </a:solidFill>
                <a:latin typeface="Arial" pitchFamily="34" charset="0"/>
                <a:ea typeface="Arial" pitchFamily="34" charset="-122"/>
                <a:cs typeface="Arial" pitchFamily="34" charset="-120"/>
              </a:rPr>
              <a:t>Paket liburan aktif yang memiliki rute ke destinasi ini.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Eksplorasi Objek Wisata: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Melihat detail landmark dan rekomendasi spot foto.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Pilih Paket Terkait: </a:t>
            </a:r>
            <a:pPr indent="0" marL="0">
              <a:lnSpc>
                <a:spcPts val="1000"/>
              </a:lnSpc>
              <a:buNone/>
            </a:pPr>
            <a:r>
              <a:rPr lang="en-US" sz="750" dirty="0">
                <a:solidFill>
                  <a:srgbClr val="525252"/>
                </a:solidFill>
                <a:latin typeface="Arial" pitchFamily="34" charset="0"/>
                <a:ea typeface="Arial" pitchFamily="34" charset="-122"/>
                <a:cs typeface="Arial" pitchFamily="34" charset="-120"/>
              </a:rPr>
              <a:t>Beralih ke halaman paket untuk memesan tur.</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06</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Pencarian Global Aplikasi</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https://novatravel.com/search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novatravel.com/search</a:t>
            </a:r>
            <a:endParaRPr lang="en-US" sz="750" dirty="0"/>
          </a:p>
        </p:txBody>
      </p:sp>
      <p:pic>
        <p:nvPicPr>
          <p:cNvPr id="14" name="Image 0" descr="C:\Users\lulus\Dominator\nova-next\public\docs\screenshots\search.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Pusat pencarian instan yang memungkinkan pengguna mengetikkan nama kota, negara, tema kegiatan (misal: "skiing", "honeymoon", "diving"), atau rentang budget untuk mendapatkan hasil rekomendasi secara instan dan akurat.</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Central Search Input: </a:t>
            </a:r>
            <a:pPr indent="0" marL="0">
              <a:lnSpc>
                <a:spcPts val="1000"/>
              </a:lnSpc>
              <a:buNone/>
            </a:pPr>
            <a:r>
              <a:rPr lang="en-US" sz="750" dirty="0">
                <a:solidFill>
                  <a:srgbClr val="525252"/>
                </a:solidFill>
                <a:latin typeface="Arial" pitchFamily="34" charset="0"/>
                <a:ea typeface="Arial" pitchFamily="34" charset="-122"/>
                <a:cs typeface="Arial" pitchFamily="34" charset="-120"/>
              </a:rPr>
              <a:t>Input teks berukuran besar dengan tombol reset dan submit.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Results Category Tabs: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 untuk memisahkan hasil Paket vs Destinasi.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Search Results Grid: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Kartu-kartu hasil pencarian yang cocok dengan kata kunci.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Ketik Kata Kunci: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Mencari data berdasarkan teks yang dimasukkan.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Klik Hasil Pencarian: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halaman detail dari item yang ditemukan.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07</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Penawaran Khusus &amp; Kode Promo</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https://novatravel.com/promo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novatravel.com/promo</a:t>
            </a:r>
            <a:endParaRPr lang="en-US" sz="750" dirty="0"/>
          </a:p>
        </p:txBody>
      </p:sp>
      <p:pic>
        <p:nvPicPr>
          <p:cNvPr id="14" name="Image 0" descr="C:\Users\lulus\Dominator\nova-next\public\docs\screenshots\promo.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Menampilkan kumpulan penawaran hemat dan kode kupon aktif yang dapat disalin pengguna untuk digunakan saat proses checkout pemesanan paket tur.</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Promo Banner Hero: </a:t>
            </a:r>
            <a:pPr indent="0" marL="0">
              <a:lnSpc>
                <a:spcPts val="1000"/>
              </a:lnSpc>
              <a:buNone/>
            </a:pPr>
            <a:r>
              <a:rPr lang="en-US" sz="750" dirty="0">
                <a:solidFill>
                  <a:srgbClr val="525252"/>
                </a:solidFill>
                <a:latin typeface="Arial" pitchFamily="34" charset="0"/>
                <a:ea typeface="Arial" pitchFamily="34" charset="-122"/>
                <a:cs typeface="Arial" pitchFamily="34" charset="-120"/>
              </a:rPr>
              <a:t>Banner tematik musim liburan (cth: Musim Gugur / Liburan Akhir Tahun).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Coupon Card Collection: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kupon dengan nominal potongan harga, kode unik, dan tombol salin.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Salin Kode Kupon: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Menyalin kode kupon ke clipboard untuk pembayaran.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Gunakan Sekarang: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Mengarahkan ke katalog paket wisata.</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08</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Cara Pemesanan &amp; Alur Layanan</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https://novatravel.com/how-it-works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novatravel.com/how-it-works</a:t>
            </a:r>
            <a:endParaRPr lang="en-US" sz="750" dirty="0"/>
          </a:p>
        </p:txBody>
      </p:sp>
      <p:pic>
        <p:nvPicPr>
          <p:cNvPr id="14" name="Image 0" descr="C:\Users\lulus\Dominator\nova-next\public\docs\screenshots\how-it-work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edukasi bagi calon wisatawan untuk memahami proses bisnis Nova Travel, mulai dari kurasi paket, konsultasi visa, pembayaran terverifikasi, hingga pendampingan oleh tour manager profesional.</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Step Timeline Flow: </a:t>
            </a:r>
            <a:pPr indent="0" marL="0">
              <a:lnSpc>
                <a:spcPts val="1000"/>
              </a:lnSpc>
              <a:buNone/>
            </a:pPr>
            <a:r>
              <a:rPr lang="en-US" sz="750" dirty="0">
                <a:solidFill>
                  <a:srgbClr val="525252"/>
                </a:solidFill>
                <a:latin typeface="Arial" pitchFamily="34" charset="0"/>
                <a:ea typeface="Arial" pitchFamily="34" charset="-122"/>
                <a:cs typeface="Arial" pitchFamily="34" charset="-120"/>
              </a:rPr>
              <a:t>Visualisasi tahapan: 1. Pilih Paket -&gt; 2. Isi Data -&gt; 3. Bayar Aman -&gt; 4. Nikmati Liburan.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Trust &amp; Safety Section: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Logo rekanan resmi perbankan, maskapai internasional, dan lisensi agen tour.</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Mulai Pesan Sekarang: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katalog paket tur.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Konsultasi Perjalanan: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obrolan concierge / WhatsApp.</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09</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Pusat Bantuan &amp; FAQ</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https://novatravel.com/faq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novatravel.com/faq</a:t>
            </a:r>
            <a:endParaRPr lang="en-US" sz="750" dirty="0"/>
          </a:p>
        </p:txBody>
      </p:sp>
      <p:pic>
        <p:nvPicPr>
          <p:cNvPr id="14" name="Image 0" descr="C:\Users\lulus\Dominator\nova-next\public\docs\screenshots\faq.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Menyediakan jawaban atas pertanyaan-pertanyaan umum dari pelanggan mengenai pembayaran Midtrans, e-ticket, kebijakan refund dana, dan ketentuan bagasi maskapai penerbangan.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Category Filter Badges: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penyaring kategori pertanyaan.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Accordion Q&amp;A List: </a:t>
            </a:r>
            <a:pPr indent="0" marL="0">
              <a:lnSpc>
                <a:spcPts val="1000"/>
              </a:lnSpc>
              <a:buNone/>
            </a:pPr>
            <a:r>
              <a:rPr lang="en-US" sz="750" dirty="0">
                <a:solidFill>
                  <a:srgbClr val="525252"/>
                </a:solidFill>
                <a:latin typeface="Arial" pitchFamily="34" charset="0"/>
                <a:ea typeface="Arial" pitchFamily="34" charset="-122"/>
                <a:cs typeface="Arial" pitchFamily="34" charset="-120"/>
              </a:rPr>
              <a:t>Daftar pertanyaan dengan transisi animasi halus saat dibuka.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Support Contact CTA: </a:t>
            </a:r>
            <a:pPr indent="0" marL="0">
              <a:lnSpc>
                <a:spcPts val="1000"/>
              </a:lnSpc>
              <a:buNone/>
            </a:pPr>
            <a:r>
              <a:rPr lang="en-US" sz="750" dirty="0">
                <a:solidFill>
                  <a:srgbClr val="525252"/>
                </a:solidFill>
                <a:latin typeface="Arial" pitchFamily="34" charset="0"/>
                <a:ea typeface="Arial" pitchFamily="34" charset="-122"/>
                <a:cs typeface="Arial" pitchFamily="34" charset="-120"/>
              </a:rPr>
              <a:t>Bagian kontak langsung jika jawaban tidak ditemukan.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Buka Pertanyaan: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Melihat jawaban detail dari pertanyaan.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Hubungi Bantuan: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Mengirim pesan ke admin layanan pelanggan.</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10</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Ulasan &amp; Testimonial Pelanggan</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https://novatravel.com/reviews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novatravel.com/reviews</a:t>
            </a:r>
            <a:endParaRPr lang="en-US" sz="750" dirty="0"/>
          </a:p>
        </p:txBody>
      </p:sp>
      <p:pic>
        <p:nvPicPr>
          <p:cNvPr id="14" name="Image 0" descr="C:\Users\lulus\Dominator\nova-next\public\docs\screenshots\review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bukti sosial (social proof) yang memuat penilaian bintang, pengalaman berlibur, dan foto dokumentasi perjalanan yang diunggah langsung oleh pelanggan terverifikasi.</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Rating Summary Header: </a:t>
            </a:r>
            <a:pPr indent="0" marL="0">
              <a:lnSpc>
                <a:spcPts val="1000"/>
              </a:lnSpc>
              <a:buNone/>
            </a:pPr>
            <a:r>
              <a:rPr lang="en-US" sz="750" dirty="0">
                <a:solidFill>
                  <a:srgbClr val="525252"/>
                </a:solidFill>
                <a:latin typeface="Arial" pitchFamily="34" charset="0"/>
                <a:ea typeface="Arial" pitchFamily="34" charset="-122"/>
                <a:cs typeface="Arial" pitchFamily="34" charset="-120"/>
              </a:rPr>
              <a:t>Ringkasan skor kepuasan pelanggan dan distribusi rating bintang 1-5.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Review Cards Grid: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testimonial yang memuat testimoni, foto perjalanan, dan tanggal liburan.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Filter Berdasarkan Bintang: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Menyaring ulasan bintang 5 atau ulasan dengan foto.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Tulis Ulasan: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dialog pengisian rating dan komentar.</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11</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AI Travel Itinerary Planner</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https://novatravel.com/ai-planner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novatravel.com/ai-planner</a:t>
            </a:r>
            <a:endParaRPr lang="en-US" sz="750" dirty="0"/>
          </a:p>
        </p:txBody>
      </p:sp>
      <p:pic>
        <p:nvPicPr>
          <p:cNvPr id="14" name="Image 0" descr="C:\Users\lulus\Dominator\nova-next\public\docs\screenshots\ai-planner.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Fitur inovatif berbasis AI canggih di mana pengguna cukup memasukkan destinasi impian, jumlah hari, budget, dan preferensi aktivitas (misal: "Liburan romantis santai di Jepang selama 7 hari"). Sistem akan secara otomatis menyusun jadwal perjalanan terperinci lengkap dengan perkiraan biaya.</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AI Generator Input Form: </a:t>
            </a:r>
            <a:pPr indent="0" marL="0">
              <a:lnSpc>
                <a:spcPts val="1000"/>
              </a:lnSpc>
              <a:buNone/>
            </a:pPr>
            <a:r>
              <a:rPr lang="en-US" sz="750" dirty="0">
                <a:solidFill>
                  <a:srgbClr val="525252"/>
                </a:solidFill>
                <a:latin typeface="Arial" pitchFamily="34" charset="0"/>
                <a:ea typeface="Arial" pitchFamily="34" charset="-122"/>
                <a:cs typeface="Arial" pitchFamily="34" charset="-120"/>
              </a:rPr>
              <a:t>Input kota tujuan, durasi hari, dan opsi suasana liburan.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Generated Itinerary Preview: </a:t>
            </a:r>
            <a:pPr indent="0" marL="0">
              <a:lnSpc>
                <a:spcPts val="1000"/>
              </a:lnSpc>
              <a:buNone/>
            </a:pPr>
            <a:r>
              <a:rPr lang="en-US" sz="750" dirty="0">
                <a:solidFill>
                  <a:srgbClr val="525252"/>
                </a:solidFill>
                <a:latin typeface="Arial" pitchFamily="34" charset="0"/>
                <a:ea typeface="Arial" pitchFamily="34" charset="-122"/>
                <a:cs typeface="Arial" pitchFamily="34" charset="-120"/>
              </a:rPr>
              <a:t>Area hasil render jadwal hari demi hari yang rapi dan terstruktur.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Save &amp; Export Actions: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untuk menyimpan rencana ke profil atau mencetak PDF.</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Hasilkan Itinerary (Generate):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Memicu AI untuk memproses rencana perjalanan.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Simpan ke Akun: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Menyimpan jadwal ke daftar itinerary tersimpan pengguna.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Unduh Ringkasan: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Mencetak jadwal perjalanan ke format dokumen.</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12</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Perencana Rencana Perjalanan Mandiri</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https://novatravel.com/itinerary  •  Kategori: Discovery &amp; Public</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novatravel.com/itinerary</a:t>
            </a:r>
            <a:endParaRPr lang="en-US" sz="750" dirty="0"/>
          </a:p>
        </p:txBody>
      </p:sp>
      <p:pic>
        <p:nvPicPr>
          <p:cNvPr id="14" name="Image 0" descr="C:\Users\lulus\Dominator\nova-next\public\docs\screenshots\itinerary.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Alat perencana liburan mandiri di mana pengguna dapat menambahkan tempat kunjungan, mengatur jam kedatangan, mencatat tiket masuk, dan mengatur urutan destinasi sesuai kenyamanan pribadi.</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Trip Header Information: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Nama perjalanan, tanggal mulai, dan total estimasi pengeluaran.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Day-by-Day Timeline Builder: </a:t>
            </a:r>
            <a:pPr indent="0" marL="0">
              <a:lnSpc>
                <a:spcPts val="1000"/>
              </a:lnSpc>
              <a:buNone/>
            </a:pPr>
            <a:r>
              <a:rPr lang="en-US" sz="750" dirty="0">
                <a:solidFill>
                  <a:srgbClr val="525252"/>
                </a:solidFill>
                <a:latin typeface="Arial" pitchFamily="34" charset="0"/>
                <a:ea typeface="Arial" pitchFamily="34" charset="-122"/>
                <a:cs typeface="Arial" pitchFamily="34" charset="-120"/>
              </a:rPr>
              <a:t>Daftar perhentian wisata dengan jam, catatan kegiatan, dan lokasi peta.</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Tambah Aktivitas: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Menambahkan tempat baru ke jadwal perjalanan.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Simpan Perjalanan: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Menyimpan konfigurasi rencana perjalanan.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13</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Masuk Akun (Sign In)</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https://novatravel.com/login  •  Kategori: Account &amp; Auth</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novatravel.com/login</a:t>
            </a:r>
            <a:endParaRPr lang="en-US" sz="750" dirty="0"/>
          </a:p>
        </p:txBody>
      </p:sp>
      <p:pic>
        <p:nvPicPr>
          <p:cNvPr id="14" name="Image 0" descr="C:\Users\lulus\Dominator\nova-next\public\docs\screenshots\login.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gerbang masuk utama bagi pelanggan maupun staf. Menggunakan enkripsi session token Supabase yang aman dan secara cerdas mengarahkan pengguna ke User Dashboard atau Admin Portal sesuai peran akun.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Brand Identity: </a:t>
            </a:r>
            <a:pPr indent="0" marL="0">
              <a:lnSpc>
                <a:spcPts val="1000"/>
              </a:lnSpc>
              <a:buNone/>
            </a:pPr>
            <a:r>
              <a:rPr lang="en-US" sz="750" dirty="0">
                <a:solidFill>
                  <a:srgbClr val="525252"/>
                </a:solidFill>
                <a:latin typeface="Arial" pitchFamily="34" charset="0"/>
                <a:ea typeface="Arial" pitchFamily="34" charset="-122"/>
                <a:cs typeface="Arial" pitchFamily="34" charset="-120"/>
              </a:rPr>
              <a:t>Logo mewah NOVA dan slogan Curated Luxury Journeys.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Auth Mode Switcher: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 kapsul untuk berganti antara login dan pendaftaran akun.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Credentials Form: </a:t>
            </a:r>
            <a:pPr indent="0" marL="0">
              <a:lnSpc>
                <a:spcPts val="1000"/>
              </a:lnSpc>
              <a:buNone/>
            </a:pPr>
            <a:r>
              <a:rPr lang="en-US" sz="750" dirty="0">
                <a:solidFill>
                  <a:srgbClr val="525252"/>
                </a:solidFill>
                <a:latin typeface="Arial" pitchFamily="34" charset="0"/>
                <a:ea typeface="Arial" pitchFamily="34" charset="-122"/>
                <a:cs typeface="Arial" pitchFamily="34" charset="-120"/>
              </a:rPr>
              <a:t>Input email dan password dengan feedback validasi instan.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Masuk (Sign In):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Mengotentikasi akun dan memulai sesi.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Beralih ke Daftar: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formulir pendaftaran akun baru.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Lupa Kata Sandi: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Mengirim tautan reset sandi ke email pengguna.</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14</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Daftar Akun Baru (Sign Up)</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https://novatravel.com/register  •  Kategori: Account &amp; Auth</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novatravel.com/register</a:t>
            </a:r>
            <a:endParaRPr lang="en-US" sz="750" dirty="0"/>
          </a:p>
        </p:txBody>
      </p:sp>
      <p:pic>
        <p:nvPicPr>
          <p:cNvPr id="14" name="Image 0" descr="C:\Users\lulus\Dominator\nova-next\public\docs\screenshots\register.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Memungkinkan calon wisatawan mendaftar ke ekosistem Nova Travel dalam beberapa detik. Sistem secara otomatis membuat profil pengguna di Supabase dan memberikan akses instan ke seluruh fitur reservasi.</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Registration Inputs: </a:t>
            </a:r>
            <a:pPr indent="0" marL="0">
              <a:lnSpc>
                <a:spcPts val="1000"/>
              </a:lnSpc>
              <a:buNone/>
            </a:pPr>
            <a:r>
              <a:rPr lang="en-US" sz="750" dirty="0">
                <a:solidFill>
                  <a:srgbClr val="525252"/>
                </a:solidFill>
                <a:latin typeface="Arial" pitchFamily="34" charset="0"/>
                <a:ea typeface="Arial" pitchFamily="34" charset="-122"/>
                <a:cs typeface="Arial" pitchFamily="34" charset="-120"/>
              </a:rPr>
              <a:t>Formulir input nama, email, sandi, dan konfirmasi sandi.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Terms &amp; Conditions Note: </a:t>
            </a:r>
            <a:pPr indent="0" marL="0">
              <a:lnSpc>
                <a:spcPts val="1000"/>
              </a:lnSpc>
              <a:buNone/>
            </a:pPr>
            <a:r>
              <a:rPr lang="en-US" sz="750" dirty="0">
                <a:solidFill>
                  <a:srgbClr val="525252"/>
                </a:solidFill>
                <a:latin typeface="Arial" pitchFamily="34" charset="0"/>
                <a:ea typeface="Arial" pitchFamily="34" charset="-122"/>
                <a:cs typeface="Arial" pitchFamily="34" charset="-120"/>
              </a:rPr>
              <a:t>Pemberitahuan persetujuan ketentuan layanan privasi.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Buat Akun: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Mendaftarkan akun baru ke database.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Masuk ke Akun Lama: </a:t>
            </a:r>
            <a:pPr indent="0" marL="0">
              <a:lnSpc>
                <a:spcPts val="1000"/>
              </a:lnSpc>
              <a:buNone/>
            </a:pPr>
            <a:r>
              <a:rPr lang="en-US" sz="750" dirty="0">
                <a:solidFill>
                  <a:srgbClr val="525252"/>
                </a:solidFill>
                <a:latin typeface="Arial" pitchFamily="34" charset="0"/>
                <a:ea typeface="Arial" pitchFamily="34" charset="-122"/>
                <a:cs typeface="Arial" pitchFamily="34" charset="-120"/>
              </a:rPr>
              <a:t>Pindah ke form Sign In jika sudah punya akun.</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15</a:t>
            </a:r>
            <a:endParaRPr lang="en-US" sz="900" dirty="0"/>
          </a:p>
        </p:txBody>
      </p:sp>
      <p:sp>
        <p:nvSpPr>
          <p:cNvPr id="3" name="Shape 1"/>
          <p:cNvSpPr/>
          <p:nvPr/>
        </p:nvSpPr>
        <p:spPr>
          <a:xfrm>
            <a:off x="1371600" y="347472"/>
            <a:ext cx="1005840" cy="237744"/>
          </a:xfrm>
          <a:prstGeom prst="roundRect">
            <a:avLst>
              <a:gd name="adj" fmla="val 19231"/>
            </a:avLst>
          </a:prstGeom>
          <a:solidFill>
            <a:srgbClr val="525252"/>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PUBLIC</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Atur Ulang Kata Sandi</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https://novatravel.com/auth/reset-password  •  Kategori: Account &amp; Auth</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novatravel.com/auth/reset-password</a:t>
            </a:r>
            <a:endParaRPr lang="en-US" sz="750" dirty="0"/>
          </a:p>
        </p:txBody>
      </p:sp>
      <p:pic>
        <p:nvPicPr>
          <p:cNvPr id="14" name="Image 0" descr="C:\Users\lulus\Dominator\nova-next\public\docs\screenshots\reset-password.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Menjamin keamanan akun wisatawan ketika mereka lupa kata sandi. Halaman ini memvalidasi token sesi khusus pemulihan dan meminta kata sandi baru yang kuat.</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Password Reset Form: </a:t>
            </a:r>
            <a:pPr indent="0" marL="0">
              <a:lnSpc>
                <a:spcPts val="1000"/>
              </a:lnSpc>
              <a:buNone/>
            </a:pPr>
            <a:r>
              <a:rPr lang="en-US" sz="750" dirty="0">
                <a:solidFill>
                  <a:srgbClr val="525252"/>
                </a:solidFill>
                <a:latin typeface="Arial" pitchFamily="34" charset="0"/>
                <a:ea typeface="Arial" pitchFamily="34" charset="-122"/>
                <a:cs typeface="Arial" pitchFamily="34" charset="-120"/>
              </a:rPr>
              <a:t>Formulir input kata sandi baru dengan standar minimal 6 karakter.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Update CTA: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simpan perubahan kata sandi baru.</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Perbarui Sandi: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Menyimpan kata sandi baru ke sistem keamanan.</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16</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Profil &amp; Preferensi Pengguna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https://novatravel.com/profile  •  Kategori: Account &amp; Auth</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novatravel.com/profile</a:t>
            </a:r>
            <a:endParaRPr lang="en-US" sz="750" dirty="0"/>
          </a:p>
        </p:txBody>
      </p:sp>
      <p:pic>
        <p:nvPicPr>
          <p:cNvPr id="14" name="Image 0" descr="C:\Users\lulus\Dominator\nova-next\public\docs\screenshots\profile.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Pusat data diri anggota Nova Travel. Wisatawan dapat memperbarui nama lengkap, nomor paspor, kontak darurat, serta preferensi mata uang yang digunakan di seluruh aplikasi.</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Profile Avatar &amp; Role Badge: </a:t>
            </a:r>
            <a:pPr indent="0" marL="0">
              <a:lnSpc>
                <a:spcPts val="1000"/>
              </a:lnSpc>
              <a:buNone/>
            </a:pPr>
            <a:r>
              <a:rPr lang="en-US" sz="750" dirty="0">
                <a:solidFill>
                  <a:srgbClr val="525252"/>
                </a:solidFill>
                <a:latin typeface="Arial" pitchFamily="34" charset="0"/>
                <a:ea typeface="Arial" pitchFamily="34" charset="-122"/>
                <a:cs typeface="Arial" pitchFamily="34" charset="-120"/>
              </a:rPr>
              <a:t>Foto profil pengguna, nama tampilan, dan label membership.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Personal Details Form: </a:t>
            </a:r>
            <a:pPr indent="0" marL="0">
              <a:lnSpc>
                <a:spcPts val="1000"/>
              </a:lnSpc>
              <a:buNone/>
            </a:pPr>
            <a:r>
              <a:rPr lang="en-US" sz="750" dirty="0">
                <a:solidFill>
                  <a:srgbClr val="525252"/>
                </a:solidFill>
                <a:latin typeface="Arial" pitchFamily="34" charset="0"/>
                <a:ea typeface="Arial" pitchFamily="34" charset="-122"/>
                <a:cs typeface="Arial" pitchFamily="34" charset="-120"/>
              </a:rPr>
              <a:t>Field pengeditan informasi kontak dan dokumen perjalanan.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Account Actions Bar: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Simpan Perubahan dan opsi Keluar dari Akun.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Simpan Perubahan: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Memperbarui profil pengguna di database.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Keluar (Sign Out):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Menghapus sesi login dan kembali ke beranda.</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17</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Wishlist &amp; Paket Impian</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https://novatravel.com/wishlist  •  Kategori: Account &amp; Auth</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novatravel.com/wishlist</a:t>
            </a:r>
            <a:endParaRPr lang="en-US" sz="750" dirty="0"/>
          </a:p>
        </p:txBody>
      </p:sp>
      <p:pic>
        <p:nvPicPr>
          <p:cNvPr id="14" name="Image 0" descr="C:\Users\lulus\Dominator\nova-next\public\docs\screenshots\wishlist.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Memudahkan pengguna melacak tur yang mereka minati tanpa harus mencari ulang dari awal. Dari halaman ini, pengguna dapat langsung mengecek apakah kuota masih tersedia atau langsung melanjutkan ke proses pemesanan.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Wishlist Counter Header: </a:t>
            </a:r>
            <a:pPr indent="0" marL="0">
              <a:lnSpc>
                <a:spcPts val="1000"/>
              </a:lnSpc>
              <a:buNone/>
            </a:pPr>
            <a:r>
              <a:rPr lang="en-US" sz="750" dirty="0">
                <a:solidFill>
                  <a:srgbClr val="525252"/>
                </a:solidFill>
                <a:latin typeface="Arial" pitchFamily="34" charset="0"/>
                <a:ea typeface="Arial" pitchFamily="34" charset="-122"/>
                <a:cs typeface="Arial" pitchFamily="34" charset="-120"/>
              </a:rPr>
              <a:t>Jumlah paket liburan impian yang telah dikoleksi.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Saved Package Cards: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tur dengan penanda ikon hati merah dan harga terkini.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Hapus dari Favorit: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Menghilangkan item dari daftar wishlist.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Pesan Sekarang: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jadwal tur untuk pemesanan.</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18</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Formulir Pemesanan &amp; Data Tamu</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https://novatravel.com/booking/131/2171  •  Kategori: Booking &amp; Payments</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novatravel.com/booking/131/2171</a:t>
            </a:r>
            <a:endParaRPr lang="en-US" sz="750" dirty="0"/>
          </a:p>
        </p:txBody>
      </p:sp>
      <p:pic>
        <p:nvPicPr>
          <p:cNvPr id="14" name="Image 0" descr="C:\Users\lulus\Dominator\nova-next\public\docs\screenshots\booking-flow.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Formulir 3-tahap (Data Pemesan -&gt; Rincian Peserta -&gt; Review Pesanan) yang dirancang bersih dan bebas distorsi. Memastikan seluruh data paspor dan kebutuhan khusus (vegetarian, kursi roda) tercatat dengan akurat sebelum diterbitkan invoice.</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Step Progress Tracker: </a:t>
            </a:r>
            <a:pPr indent="0" marL="0">
              <a:lnSpc>
                <a:spcPts val="1000"/>
              </a:lnSpc>
              <a:buNone/>
            </a:pPr>
            <a:r>
              <a:rPr lang="en-US" sz="750" dirty="0">
                <a:solidFill>
                  <a:srgbClr val="525252"/>
                </a:solidFill>
                <a:latin typeface="Arial" pitchFamily="34" charset="0"/>
                <a:ea typeface="Arial" pitchFamily="34" charset="-122"/>
                <a:cs typeface="Arial" pitchFamily="34" charset="-120"/>
              </a:rPr>
              <a:t>Indikator tahapan pengisian formulir pemesanan.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Contact &amp; Guest Details Form: </a:t>
            </a:r>
            <a:pPr indent="0" marL="0">
              <a:lnSpc>
                <a:spcPts val="1000"/>
              </a:lnSpc>
              <a:buNone/>
            </a:pPr>
            <a:r>
              <a:rPr lang="en-US" sz="750" dirty="0">
                <a:solidFill>
                  <a:srgbClr val="525252"/>
                </a:solidFill>
                <a:latin typeface="Arial" pitchFamily="34" charset="0"/>
                <a:ea typeface="Arial" pitchFamily="34" charset="-122"/>
                <a:cs typeface="Arial" pitchFamily="34" charset="-120"/>
              </a:rPr>
              <a:t>Field nama lengkap, nomor WhatsApp, email, dan catatan perjalanan.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Price &amp; Order Summary Card: </a:t>
            </a:r>
            <a:pPr indent="0" marL="0">
              <a:lnSpc>
                <a:spcPts val="1000"/>
              </a:lnSpc>
              <a:buNone/>
            </a:pPr>
            <a:r>
              <a:rPr lang="en-US" sz="750" dirty="0">
                <a:solidFill>
                  <a:srgbClr val="525252"/>
                </a:solidFill>
                <a:latin typeface="Arial" pitchFamily="34" charset="0"/>
                <a:ea typeface="Arial" pitchFamily="34" charset="-122"/>
                <a:cs typeface="Arial" pitchFamily="34" charset="-120"/>
              </a:rPr>
              <a:t>Kotak ringkasan nama tur, tanggal berangkat, dan kalkulasi total pembayaran.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Lanjutkan ke Review: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Memvalidasi formulir dan menampilkan ringkasan pesanan.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Konfirmasi &amp; Bayar: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Membuat rekaman pesanan dan mengarahkan ke halaman pembayaran.</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19</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Gerbang Pembayaran &amp; Invoice</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https://novatravel.com/payment/1  •  Kategori: Booking &amp; Payments</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novatravel.com/payment/1</a:t>
            </a:r>
            <a:endParaRPr lang="en-US" sz="750" dirty="0"/>
          </a:p>
        </p:txBody>
      </p:sp>
      <p:pic>
        <p:nvPicPr>
          <p:cNvPr id="14" name="Image 0" descr="C:\Users\lulus\Dominator\nova-next\public\docs\screenshots\payment.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Menghubungkan tamu dengan berbagai metode pembayaran terpercaya di Indonesia dan internasional, termasuk Virtual Account BCA/Mandiri/BNI, Kartu Kredit 3D-Secure, QRIS instan, dan e-Wallet.</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Booking Reference &amp; Countdown: </a:t>
            </a:r>
            <a:pPr indent="0" marL="0">
              <a:lnSpc>
                <a:spcPts val="1000"/>
              </a:lnSpc>
              <a:buNone/>
            </a:pPr>
            <a:r>
              <a:rPr lang="en-US" sz="750" dirty="0">
                <a:solidFill>
                  <a:srgbClr val="525252"/>
                </a:solidFill>
                <a:latin typeface="Arial" pitchFamily="34" charset="0"/>
                <a:ea typeface="Arial" pitchFamily="34" charset="-122"/>
                <a:cs typeface="Arial" pitchFamily="34" charset="-120"/>
              </a:rPr>
              <a:t>Kode booking, tenggat waktu penyelesaian pembayaran, dan status tagihan.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Payment Method Selector: </a:t>
            </a:r>
            <a:pPr indent="0" marL="0">
              <a:lnSpc>
                <a:spcPts val="1000"/>
              </a:lnSpc>
              <a:buNone/>
            </a:pPr>
            <a:r>
              <a:rPr lang="en-US" sz="750" dirty="0">
                <a:solidFill>
                  <a:srgbClr val="525252"/>
                </a:solidFill>
                <a:latin typeface="Arial" pitchFamily="34" charset="0"/>
                <a:ea typeface="Arial" pitchFamily="34" charset="-122"/>
                <a:cs typeface="Arial" pitchFamily="34" charset="-120"/>
              </a:rPr>
              <a:t>Opsi kanal bayar (VA Bank, QRIS, Kartu Kredit, GoPay/ShopeePay).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Voucher Code Section: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Field input kode kupon promo dengan tombol "Terapkan".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Terapkan Kupon: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Menghitung diskon tagihan secara real-time.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Bayar Sekarang: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popup Snap Midtrans untuk transaksi langsung.</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20</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Konfirmasi Pembayaran &amp; Tiket</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https://novatravel.com/payment/confirmation/1  •  Kategori: Booking &amp; Payments</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novatravel.com/payment/confirmation/1</a:t>
            </a:r>
            <a:endParaRPr lang="en-US" sz="750" dirty="0"/>
          </a:p>
        </p:txBody>
      </p:sp>
      <p:pic>
        <p:nvPicPr>
          <p:cNvPr id="14" name="Image 0" descr="C:\Users\lulus\Dominator\nova-next\public\docs\screenshots\payment-confirmation.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Memberikan kepastian kepada wisatawan bahwa dana telah diterima dan kursi keberangkatan telah dikonfirmasi secara resmi. Dilengkapi tombol unduh tanda terima dan pintasan ke Dashboard Akun.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Success Confirmation Banner: </a:t>
            </a:r>
            <a:pPr indent="0" marL="0">
              <a:lnSpc>
                <a:spcPts val="1000"/>
              </a:lnSpc>
              <a:buNone/>
            </a:pPr>
            <a:r>
              <a:rPr lang="en-US" sz="750" dirty="0">
                <a:solidFill>
                  <a:srgbClr val="525252"/>
                </a:solidFill>
                <a:latin typeface="Arial" pitchFamily="34" charset="0"/>
                <a:ea typeface="Arial" pitchFamily="34" charset="-122"/>
                <a:cs typeface="Arial" pitchFamily="34" charset="-120"/>
              </a:rPr>
              <a:t>Badge status "Payment Successful" berwarna hijau elegan.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Booking Summary Receipt: </a:t>
            </a:r>
            <a:pPr indent="0" marL="0">
              <a:lnSpc>
                <a:spcPts val="1000"/>
              </a:lnSpc>
              <a:buNone/>
            </a:pPr>
            <a:r>
              <a:rPr lang="en-US" sz="750" dirty="0">
                <a:solidFill>
                  <a:srgbClr val="525252"/>
                </a:solidFill>
                <a:latin typeface="Arial" pitchFamily="34" charset="0"/>
                <a:ea typeface="Arial" pitchFamily="34" charset="-122"/>
                <a:cs typeface="Arial" pitchFamily="34" charset="-120"/>
              </a:rPr>
              <a:t>Struk digital transaksi yang memuat seluruh rincian pembelian.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Navigation Quick Links: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"Lihat Pesanan Saya" dan "Kembali ke Beranda".</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Buka Tiket Saya: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halaman detail pesanan di user dashboard.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Cetak Bukti Bayar: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dialog print / save PDF di browser.</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21</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Ringkasan Dashboard Pengguna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https://novatravel.com/dashboard  •  Kategori: User Dashboard</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novatravel.com/dashboard</a:t>
            </a:r>
            <a:endParaRPr lang="en-US" sz="750" dirty="0"/>
          </a:p>
        </p:txBody>
      </p:sp>
      <p:pic>
        <p:nvPicPr>
          <p:cNvPr id="14" name="Image 0" descr="C:\Users\lulus\Dominator\nova-next\public\docs\screenshots\dashboard.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Panel kendali pribadi wisatawan yang merangkum semua aktivitas perjalanan. Dari sini tamu dapat melihat hitung mundur keberangkatan tur berikutnya, status pembayaran yang belum diselesaikan, dan akses cepat ke layanan bantuan concierge.</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Welcome Banner &amp; Avatar: </a:t>
            </a:r>
            <a:pPr indent="0" marL="0">
              <a:lnSpc>
                <a:spcPts val="1000"/>
              </a:lnSpc>
              <a:buNone/>
            </a:pPr>
            <a:r>
              <a:rPr lang="en-US" sz="750" dirty="0">
                <a:solidFill>
                  <a:srgbClr val="525252"/>
                </a:solidFill>
                <a:latin typeface="Arial" pitchFamily="34" charset="0"/>
                <a:ea typeface="Arial" pitchFamily="34" charset="-122"/>
                <a:cs typeface="Arial" pitchFamily="34" charset="-120"/>
              </a:rPr>
              <a:t>Sapaan personal nama pengguna beserta status keanggotaan.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Quick Stat Metric Cards: </a:t>
            </a:r>
            <a:pPr indent="0" marL="0">
              <a:lnSpc>
                <a:spcPts val="1000"/>
              </a:lnSpc>
              <a:buNone/>
            </a:pPr>
            <a:r>
              <a:rPr lang="en-US" sz="750" dirty="0">
                <a:solidFill>
                  <a:srgbClr val="525252"/>
                </a:solidFill>
                <a:latin typeface="Arial" pitchFamily="34" charset="0"/>
                <a:ea typeface="Arial" pitchFamily="34" charset="-122"/>
                <a:cs typeface="Arial" pitchFamily="34" charset="-120"/>
              </a:rPr>
              <a:t>Indikator ringkas jumlah pesanan dan rencana perjalanan.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Upcoming Trip Highlight: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perjalanan terdekat lengkap dengan jadwal dan destinasi.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Kelola Pesanan: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Melihat seluruh riwayat tiket dan booking.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Lihat Wishlist: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paket yang disimpan pengguna.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Eksplorasi Paket Baru: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katalog tur untuk merencanakan liburan baru.</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22</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Riwayat Pesanan Saya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https://novatravel.com/dashboard/bookings  •  Kategori: User Dashboard</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novatravel.com/dashboard/bookings</a:t>
            </a:r>
            <a:endParaRPr lang="en-US" sz="750" dirty="0"/>
          </a:p>
        </p:txBody>
      </p:sp>
      <p:pic>
        <p:nvPicPr>
          <p:cNvPr id="14" name="Image 0" descr="C:\Users\lulus\Dominator\nova-next\public\docs\screenshots\dashboard-booking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Halaman pelacakan pesanan di mana wisatawan dapat memeriksa status tiket mereka (Pending, Confirmed, Cancelled, Refunded). Setiap pesanan dapat dibuka untuk melihat e-ticket, kwitansi pembayaran, atau mengajukan pembatalan/refund jika berhalangan.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Booking Filter Tabs: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 pemilahan status reservasi.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Booking Cards List: </a:t>
            </a:r>
            <a:pPr indent="0" marL="0">
              <a:lnSpc>
                <a:spcPts val="1000"/>
              </a:lnSpc>
              <a:buNone/>
            </a:pPr>
            <a:r>
              <a:rPr lang="en-US" sz="750" dirty="0">
                <a:solidFill>
                  <a:srgbClr val="525252"/>
                </a:solidFill>
                <a:latin typeface="Arial" pitchFamily="34" charset="0"/>
                <a:ea typeface="Arial" pitchFamily="34" charset="-122"/>
                <a:cs typeface="Arial" pitchFamily="34" charset="-120"/>
              </a:rPr>
              <a:t>Daftar kartu reservasi dengan nama paket, jumlah pax, dan status tagihan.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Quick Action Buttons: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rincian pesanan dan unduh e-ticket.</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Lihat Detail Tiket: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halaman detail pesanan dan e-ticket.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Bayar Tagihan: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Melanjutkan transaksi yang tertunda.</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23</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Detail Tiket &amp; Invoice Pesanan</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https://novatravel.com/dashboard/bookings/1  •  Kategori: User Dashboard</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novatravel.com/dashboard/bookings/1</a:t>
            </a:r>
            <a:endParaRPr lang="en-US" sz="750" dirty="0"/>
          </a:p>
        </p:txBody>
      </p:sp>
      <p:pic>
        <p:nvPicPr>
          <p:cNvPr id="14" name="Image 0" descr="C:\Users\lulus\Dominator\nova-next\public\docs\screenshots\dashboard-booking-detail.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Merupakan bukti reservasi digital sah yang memuat QR Code tiket, data seluruh peserta tur, rincian meeting point di bandara, dan formulir pengajuan refund dana jika terjadi kendala perjalanan.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E-Ticket Boarding Pass: </a:t>
            </a:r>
            <a:pPr indent="0" marL="0">
              <a:lnSpc>
                <a:spcPts val="1000"/>
              </a:lnSpc>
              <a:buNone/>
            </a:pPr>
            <a:r>
              <a:rPr lang="en-US" sz="750" dirty="0">
                <a:solidFill>
                  <a:srgbClr val="525252"/>
                </a:solidFill>
                <a:latin typeface="Arial" pitchFamily="34" charset="0"/>
                <a:ea typeface="Arial" pitchFamily="34" charset="-122"/>
                <a:cs typeface="Arial" pitchFamily="34" charset="-120"/>
              </a:rPr>
              <a:t>Komponen tiket visual dengan logo maskapai/tur, barcode, dan tanggal terbang.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Passenger &amp; Schedule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nama-nama tamu dan jadwal pertemuan tour leader.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Payment Breakdown Receipt: </a:t>
            </a:r>
            <a:pPr indent="0" marL="0">
              <a:lnSpc>
                <a:spcPts val="1000"/>
              </a:lnSpc>
              <a:buNone/>
            </a:pPr>
            <a:r>
              <a:rPr lang="en-US" sz="750" dirty="0">
                <a:solidFill>
                  <a:srgbClr val="525252"/>
                </a:solidFill>
                <a:latin typeface="Arial" pitchFamily="34" charset="0"/>
                <a:ea typeface="Arial" pitchFamily="34" charset="-122"/>
                <a:cs typeface="Arial" pitchFamily="34" charset="-120"/>
              </a:rPr>
              <a:t>Rincian transaksi resmi dan metode bayar yang digunakan.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Unduh E-Ticket (PDF):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Mengunduh berkas tiket PDF ke perangkat.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Ajukan Pengembalian Dana (Refund):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modal alasan pembatalan pesanan.</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24</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Itinerary Tersimpan Pengguna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https://novatravel.com/dashboard/itineraries  •  Kategori: User Dashboard</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novatravel.com/dashboard/itineraries</a:t>
            </a:r>
            <a:endParaRPr lang="en-US" sz="750" dirty="0"/>
          </a:p>
        </p:txBody>
      </p:sp>
      <p:pic>
        <p:nvPicPr>
          <p:cNvPr id="14" name="Image 0" descr="C:\Users\lulus\Dominator\nova-next\public\docs\screenshots\dashboard-itinerarie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Tempat pengguna menyimpan berbagai konsep liburan masa depan. Jadwal yang telah dirancang dapat diedit kembali, dibagikan ke rekan seperjalanan, atau dikonversi menjadi permintaan paket privat ke admin.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Itinerary Collection Grid: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ringkasan rencana perjalanan dengan nama kota tujuan.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Create New Plan CTA: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untuk membuka AI Planner atau perencana mandiri.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Buka &amp; Edit Itinerary: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editor rencana perjalanan.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Buat Rencana Baru: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AI Travel Planner.</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25</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Favorit &amp; Paket Disimpan Dashboard</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https://novatravel.com/dashboard/wishlist  •  Kategori: User Dashboard</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novatravel.com/dashboard/wishlist</a:t>
            </a:r>
            <a:endParaRPr lang="en-US" sz="750" dirty="0"/>
          </a:p>
        </p:txBody>
      </p:sp>
      <p:pic>
        <p:nvPicPr>
          <p:cNvPr id="14" name="Image 0" descr="C:\Users\lulus\Dominator\nova-next\public\docs\screenshots\dashboard-wishlist.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Menyinkronkan wishlist pengguna di dalam tata letak dashboard yang rapi, memungkinkan wisatawan memantau penurunan harga atau kuota yang menipis pada paket incaran.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Wishlist Item Cards: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tur dengan foto, harga, dan tombol pesan langsung.</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Pesan Paket Favorit: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halaman pemesanan paket tur.</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26</a:t>
            </a:r>
            <a:endParaRPr lang="en-US" sz="900" dirty="0"/>
          </a:p>
        </p:txBody>
      </p:sp>
      <p:sp>
        <p:nvSpPr>
          <p:cNvPr id="3" name="Shape 1"/>
          <p:cNvSpPr/>
          <p:nvPr/>
        </p:nvSpPr>
        <p:spPr>
          <a:xfrm>
            <a:off x="1371600" y="347472"/>
            <a:ext cx="1005840" cy="237744"/>
          </a:xfrm>
          <a:prstGeom prst="roundRect">
            <a:avLst>
              <a:gd name="adj" fmla="val 19231"/>
            </a:avLst>
          </a:prstGeom>
          <a:solidFill>
            <a:srgbClr val="2563EB"/>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USER</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Pusat Pemberitahuan Akun</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https://novatravel.com/dashboard/notifications  •  Kategori: User Dashboard</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novatravel.com/dashboard/notifications</a:t>
            </a:r>
            <a:endParaRPr lang="en-US" sz="750" dirty="0"/>
          </a:p>
        </p:txBody>
      </p:sp>
      <p:pic>
        <p:nvPicPr>
          <p:cNvPr id="14" name="Image 0" descr="C:\Users\lulus\Dominator\nova-next\public\docs\screenshots\dashboard-notification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Mengumpulkan seluruh notifikasi penting akun, mulai dari perubahan jam penerbangan, tiket yang telah terbit, hingga promosi eksklusif yang ditujukan khusus untuk profil pengguna.</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Notification Feed: </a:t>
            </a:r>
            <a:pPr indent="0" marL="0">
              <a:lnSpc>
                <a:spcPts val="1000"/>
              </a:lnSpc>
              <a:buNone/>
            </a:pPr>
            <a:r>
              <a:rPr lang="en-US" sz="750" dirty="0">
                <a:solidFill>
                  <a:srgbClr val="525252"/>
                </a:solidFill>
                <a:latin typeface="Arial" pitchFamily="34" charset="0"/>
                <a:ea typeface="Arial" pitchFamily="34" charset="-122"/>
                <a:cs typeface="Arial" pitchFamily="34" charset="-120"/>
              </a:rPr>
              <a:t>Daftar baris notifikasi dengan ikon penanda status dan waktu kejadian.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Mark All as Read Action: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untuk menandai semua notifikasi telah dibaca.</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Tandai Telah Dibaca: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Mengubah status notifikasi menjadi terbaca.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Klik Notifikasi: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halaman terkait transaksi yang dimaksud.</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27</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Ringkasan Metrik Admin Portal</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a:t>
            </a:r>
            <a:endParaRPr lang="en-US" sz="750" dirty="0"/>
          </a:p>
        </p:txBody>
      </p:sp>
      <p:pic>
        <p:nvPicPr>
          <p:cNvPr id="14" name="Image 0" descr="C:\Users\lulus\Dominator\nova-next\public\docs\screenshots\admin-dashboard.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Dasbor komprehensif bagi manajemen dan super admin Nova Travel. Menampilkan ringkasan finansial (Gross Revenue), tingkat keberhasilan transaksi Midtrans, jumlah kuota terisi, serta tabel reservasi terbaru yang memerlukan perhatian operasional.</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Executive Metric Cards: </a:t>
            </a:r>
            <a:pPr indent="0" marL="0">
              <a:lnSpc>
                <a:spcPts val="1000"/>
              </a:lnSpc>
              <a:buNone/>
            </a:pPr>
            <a:r>
              <a:rPr lang="en-US" sz="750" dirty="0">
                <a:solidFill>
                  <a:srgbClr val="525252"/>
                </a:solidFill>
                <a:latin typeface="Arial" pitchFamily="34" charset="0"/>
                <a:ea typeface="Arial" pitchFamily="34" charset="-122"/>
                <a:cs typeface="Arial" pitchFamily="34" charset="-120"/>
              </a:rPr>
              <a:t>Kartu KPI dengan perbandingan persentase pertumbuhan bulanan.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Revenue &amp; Occupancy Charts: </a:t>
            </a:r>
            <a:pPr indent="0" marL="0">
              <a:lnSpc>
                <a:spcPts val="1000"/>
              </a:lnSpc>
              <a:buNone/>
            </a:pPr>
            <a:r>
              <a:rPr lang="en-US" sz="750" dirty="0">
                <a:solidFill>
                  <a:srgbClr val="525252"/>
                </a:solidFill>
                <a:latin typeface="Arial" pitchFamily="34" charset="0"/>
                <a:ea typeface="Arial" pitchFamily="34" charset="-122"/>
                <a:cs typeface="Arial" pitchFamily="34" charset="-120"/>
              </a:rPr>
              <a:t>Visualisasi grafik pendapatan dan tren destinasi paling diminati.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Live Orders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transaksi masuk dengan badge status pembayaran real-time.</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Tambah Paket Baru: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formulir pembuatan paket tur baru.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Buka Manajemen Booking: </a:t>
            </a:r>
            <a:pPr indent="0" marL="0">
              <a:lnSpc>
                <a:spcPts val="1000"/>
              </a:lnSpc>
              <a:buNone/>
            </a:pPr>
            <a:r>
              <a:rPr lang="en-US" sz="750" dirty="0">
                <a:solidFill>
                  <a:srgbClr val="525252"/>
                </a:solidFill>
                <a:latin typeface="Arial" pitchFamily="34" charset="0"/>
                <a:ea typeface="Arial" pitchFamily="34" charset="-122"/>
                <a:cs typeface="Arial" pitchFamily="34" charset="-120"/>
              </a:rPr>
              <a:t>Melihat seluruh daftar transaksi.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Unduh Laporan Keuangan: </a:t>
            </a:r>
            <a:pPr indent="0" marL="0">
              <a:lnSpc>
                <a:spcPts val="1000"/>
              </a:lnSpc>
              <a:buNone/>
            </a:pPr>
            <a:r>
              <a:rPr lang="en-US" sz="750" dirty="0">
                <a:solidFill>
                  <a:srgbClr val="525252"/>
                </a:solidFill>
                <a:latin typeface="Arial" pitchFamily="34" charset="0"/>
                <a:ea typeface="Arial" pitchFamily="34" charset="-122"/>
                <a:cs typeface="Arial" pitchFamily="34" charset="-120"/>
              </a:rPr>
              <a:t>Beralih ke modul laporan dan ekspor PDF.</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28</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Manajemen Paket Wisata (CRUD)</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https://novatravel.com/admin/packages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novatravel.com/admin/packages</a:t>
            </a:r>
            <a:endParaRPr lang="en-US" sz="750" dirty="0"/>
          </a:p>
        </p:txBody>
      </p:sp>
      <p:pic>
        <p:nvPicPr>
          <p:cNvPr id="14" name="Image 0" descr="C:\Users\lulus\Dominator\nova-next\public\docs\screenshots\admin-package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Modul inti untuk mengelola produk tour yang dipasarkan di aplikasi. Admin dapat membuat paket baru, mengubah deskripsi, mengatur jadwal itinerary hari demi hari, serta mengatur status publikasi (Aktif / Nonaktif).</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Packages Action Header: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"Tambah Paket Baru" dan bilah pencarian nama paket.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Package Data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daftar paket dengan kolom Gambar, Judul, Kategori, Harga, dan Aksi.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Action Buttons (Edit/Delete): </a:t>
            </a:r>
            <a:pPr indent="0" marL="0">
              <a:lnSpc>
                <a:spcPts val="1000"/>
              </a:lnSpc>
              <a:buNone/>
            </a:pPr>
            <a:r>
              <a:rPr lang="en-US" sz="750" dirty="0">
                <a:solidFill>
                  <a:srgbClr val="525252"/>
                </a:solidFill>
                <a:latin typeface="Arial" pitchFamily="34" charset="0"/>
                <a:ea typeface="Arial" pitchFamily="34" charset="-122"/>
                <a:cs typeface="Arial" pitchFamily="34" charset="-120"/>
              </a:rPr>
              <a:t>Ikon pensil untuk ubah dan ikon tempat sampah untuk hapus.</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Tambah Paket Baru: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modal input data paket lengkap.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Edit Paket: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Memperbarui informasi itinerary dan harga.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Hapus Paket: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Menghapus paket dari database dengan konfirmasi aman.</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29</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Manajemen Destinasi &amp; Lokasi</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https://novatravel.com/admin/destinations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novatravel.com/admin/destinations</a:t>
            </a:r>
            <a:endParaRPr lang="en-US" sz="750" dirty="0"/>
          </a:p>
        </p:txBody>
      </p:sp>
      <p:pic>
        <p:nvPicPr>
          <p:cNvPr id="14" name="Image 0" descr="C:\Users\lulus\Dominator\nova-next\public\docs\screenshots\admin-destination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Menata seluruh basis data destinasi yang menjadi tujuan tur. Admin dapat menambahkan destinasi baru di seluruh benua, menyematkan landmark populer, dan menghubungkannya dengan paket wisata.</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Add Destination Button: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untuk meluncurkan formulir input destinasi baru.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Destination Table / Grid: </a:t>
            </a:r>
            <a:pPr indent="0" marL="0">
              <a:lnSpc>
                <a:spcPts val="1000"/>
              </a:lnSpc>
              <a:buNone/>
            </a:pPr>
            <a:r>
              <a:rPr lang="en-US" sz="750" dirty="0">
                <a:solidFill>
                  <a:srgbClr val="525252"/>
                </a:solidFill>
                <a:latin typeface="Arial" pitchFamily="34" charset="0"/>
                <a:ea typeface="Arial" pitchFamily="34" charset="-122"/>
                <a:cs typeface="Arial" pitchFamily="34" charset="-120"/>
              </a:rPr>
              <a:t>Koleksi destinasi dengan foto thumbnail dan jumlah paket terkait.</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Tambah Destinasi: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Menyimpan negara/kota baru ke sistem.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Edit Data Destinasi: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Mengubah deskripsi dan foto kota.</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30</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Jadwal Keberangkatan Tour &amp; Kuota</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https://novatravel.com/admin/departures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novatravel.com/admin/departures</a:t>
            </a:r>
            <a:endParaRPr lang="en-US" sz="750" dirty="0"/>
          </a:p>
        </p:txBody>
      </p:sp>
      <p:pic>
        <p:nvPicPr>
          <p:cNvPr id="14" name="Image 0" descr="C:\Users\lulus\Dominator\nova-next\public\docs\screenshots\admin-departure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Mengontrol slot kuota keberangkatan untuk setiap paket wisata. Admin menentukan tanggal mulai dan selesai tur, kapasitas kursi (contoh: 16 pax per rombongan), serta harga khusus pada tanggal tertentu.</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Departure Scheduler Form: </a:t>
            </a:r>
            <a:pPr indent="0" marL="0">
              <a:lnSpc>
                <a:spcPts val="1000"/>
              </a:lnSpc>
              <a:buNone/>
            </a:pPr>
            <a:r>
              <a:rPr lang="en-US" sz="750" dirty="0">
                <a:solidFill>
                  <a:srgbClr val="525252"/>
                </a:solidFill>
                <a:latin typeface="Arial" pitchFamily="34" charset="0"/>
                <a:ea typeface="Arial" pitchFamily="34" charset="-122"/>
                <a:cs typeface="Arial" pitchFamily="34" charset="-120"/>
              </a:rPr>
              <a:t>Pemilihan paket dan penentuan rentang tanggal keberangkatan.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Slot Allocation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sisa kursi per jadwal beserta daftar tamu yang telah memesan.</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Buat Jadwal Baru: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slot tanggal baru untuk paket yang dipilih.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Ubah Kuota: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Menambah atau mengurangi kapasitas maksimal peserta.</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31</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Manajemen Seluruh Transaksi &amp; Approval</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https://novatravel.com/admin/bookings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novatravel.com/admin/bookings</a:t>
            </a:r>
            <a:endParaRPr lang="en-US" sz="750" dirty="0"/>
          </a:p>
        </p:txBody>
      </p:sp>
      <p:pic>
        <p:nvPicPr>
          <p:cNvPr id="14" name="Image 0" descr="C:\Users\lulus\Dominator\nova-next\public\docs\screenshots\admin-booking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Pusat operasi kasir dan pemesanan. Petugas dapat melihat semua reservasi yang masuk, mencari berdasarkan kode booking, memverifikasi pembayaran yang tertunda, dan mengubah status menjadi Terkonfirmasi.</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Booking Search &amp; Filter Bar: </a:t>
            </a:r>
            <a:pPr indent="0" marL="0">
              <a:lnSpc>
                <a:spcPts val="1000"/>
              </a:lnSpc>
              <a:buNone/>
            </a:pPr>
            <a:r>
              <a:rPr lang="en-US" sz="750" dirty="0">
                <a:solidFill>
                  <a:srgbClr val="525252"/>
                </a:solidFill>
                <a:latin typeface="Arial" pitchFamily="34" charset="0"/>
                <a:ea typeface="Arial" pitchFamily="34" charset="-122"/>
                <a:cs typeface="Arial" pitchFamily="34" charset="-120"/>
              </a:rPr>
              <a:t>Filter status pembayaran dan kolom pencarian kode booking.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Master Bookings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berisi ID pesanan, nama paket, data pemesan, total bayar, dan status.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Status Toggle &amp; Actions: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untuk mengubah status pembayaran atau membuka rincian invoice.</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Cari Transaksi: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Menemukan pesanan berdasarkan kode atau email.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Perbarui Status: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Mengubah status pesanan menjadi Confirmed atau Cancelled.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Ekspor Data Pesanan: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Mengunduh laporan transaksi ke format spreadsheet.</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32</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Kupon Diskon &amp; Voucher Promo</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https://novatravel.com/admin/coupons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novatravel.com/admin/coupons</a:t>
            </a:r>
            <a:endParaRPr lang="en-US" sz="750" dirty="0"/>
          </a:p>
        </p:txBody>
      </p:sp>
      <p:pic>
        <p:nvPicPr>
          <p:cNvPr id="14" name="Image 0" descr="C:\Users\lulus\Dominator\nova-next\public\docs\screenshots\admin-coupon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Alat pemasaran bagi tim marketing untuk mengelola kode promo. Admin dapat menetapkan kode (misal: "NOVA15"), besaran diskon, minimum transaksi, kuota batas pemakaian, serta periode waktu berlakunya kupon.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Create Coupon Modal: </a:t>
            </a:r>
            <a:pPr indent="0" marL="0">
              <a:lnSpc>
                <a:spcPts val="1000"/>
              </a:lnSpc>
              <a:buNone/>
            </a:pPr>
            <a:r>
              <a:rPr lang="en-US" sz="750" dirty="0">
                <a:solidFill>
                  <a:srgbClr val="525252"/>
                </a:solidFill>
                <a:latin typeface="Arial" pitchFamily="34" charset="0"/>
                <a:ea typeface="Arial" pitchFamily="34" charset="-122"/>
                <a:cs typeface="Arial" pitchFamily="34" charset="-120"/>
              </a:rPr>
              <a:t>Formulir input kode kupon, nilai diskon, dan aturan penggunaan.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Active Coupons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Daftar kupon aktif dengan indikator berapa kali kode telah digunakan oleh tamu.</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Buat Kode Kupon Baru: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Menambahkan kupon promosi baru ke sistem.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Nonaktifkan Kupon: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Menonaktifkan kupon agar tidak bisa digunakan lagi di checkout.</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33</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Manajemen Pengembalian Dana (Refund)</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https://novatravel.com/admin/refunds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novatravel.com/admin/refunds</a:t>
            </a:r>
            <a:endParaRPr lang="en-US" sz="750" dirty="0"/>
          </a:p>
        </p:txBody>
      </p:sp>
      <p:pic>
        <p:nvPicPr>
          <p:cNvPr id="14" name="Image 0" descr="C:\Users\lulus\Dominator\nova-next\public\docs\screenshots\admin-refund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Menangani permohonan pengembalian dana dari tamu yang batal berangkat. Super admin dapat meninjau alasan pembatalan, memverifikasi nomor rekening tujuan refund, menyetujui (Approve), atau menolak (Reject) sesuai kebijakan pembatalan.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Refund Queue List: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antrean pengajuan refund yang menunggu keputusan admin.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Action Decision Buttons: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hijau "Approve" dan tombol merah "Reject".</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Setujui Refund (Approve):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Mengizinkan pengembalian dana dan memperbarui status tiket.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Tolak Refund (Reject):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Menolak permohonan dengan memberikan catatan alasan.</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34</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Manajemen Hak Akses &amp; User</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https://novatravel.com/admin/users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novatravel.com/admin/users</a:t>
            </a:r>
            <a:endParaRPr lang="en-US" sz="750" dirty="0"/>
          </a:p>
        </p:txBody>
      </p:sp>
      <p:pic>
        <p:nvPicPr>
          <p:cNvPr id="14" name="Image 0" descr="C:\Users\lulus\Dominator\nova-next\public\docs\screenshots\admin-user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Pusat kontrol Role-Based Access Control (RBAC). Super admin memiliki wewenang untuk melihat seluruh akun yang terdaftar di Supabase Auth, mengubah peran staf (misal: mengangkat staf menjadi admin), atau menonaktifkan akun.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User Directory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pengguna terdaftar dengan avatar inisial dan badge role.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Role Assignment Dropdown: </a:t>
            </a:r>
            <a:pPr indent="0" marL="0">
              <a:lnSpc>
                <a:spcPts val="1000"/>
              </a:lnSpc>
              <a:buNone/>
            </a:pPr>
            <a:r>
              <a:rPr lang="en-US" sz="750" dirty="0">
                <a:solidFill>
                  <a:srgbClr val="525252"/>
                </a:solidFill>
                <a:latin typeface="Arial" pitchFamily="34" charset="0"/>
                <a:ea typeface="Arial" pitchFamily="34" charset="-122"/>
                <a:cs typeface="Arial" pitchFamily="34" charset="-120"/>
              </a:rPr>
              <a:t>Pemilihan hak akses pengguna secara real-time.</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Ubah Role Pengguna: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Memperbarui peran pengguna di tabel user_roles Supabase.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Cari Pengguna: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Memfilter daftar pengguna berdasarkan email.</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35</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Log Keamanan &amp; Audit Jejak Sistem</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https://novatravel.com/admin/audit-logs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novatravel.com/admin/audit-logs</a:t>
            </a:r>
            <a:endParaRPr lang="en-US" sz="750" dirty="0"/>
          </a:p>
        </p:txBody>
      </p:sp>
      <p:pic>
        <p:nvPicPr>
          <p:cNvPr id="14" name="Image 0" descr="C:\Users\lulus\Dominator\nova-next\public\docs\screenshots\admin-audit-log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Menjamin akuntabilitas dan integritas data aplikasi. Setiap kali ada perubahan harga paket, penambahan kupon, approval refund, atau perubahan hak akses, sistem secara otomatis mencatat aktor, timestamp, alamat IP, dan data sebelum/sesudah perubahan.</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Audit Timeline Table: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jejak rekam aktivitas dengan format kode waktu ISO presisi.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Action Severity Badge: </a:t>
            </a:r>
            <a:pPr indent="0" marL="0">
              <a:lnSpc>
                <a:spcPts val="1000"/>
              </a:lnSpc>
              <a:buNone/>
            </a:pPr>
            <a:r>
              <a:rPr lang="en-US" sz="750" dirty="0">
                <a:solidFill>
                  <a:srgbClr val="525252"/>
                </a:solidFill>
                <a:latin typeface="Arial" pitchFamily="34" charset="0"/>
                <a:ea typeface="Arial" pitchFamily="34" charset="-122"/>
                <a:cs typeface="Arial" pitchFamily="34" charset="-120"/>
              </a:rPr>
              <a:t>Indikator warna untuk aksi penting (Hijau: Create, Kuning: Update, Merah: Delete).</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Filter Aktivitas: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Menyaring log berdasarkan kategori atau waktu.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Lihat Detail Perubahan (Diff): </a:t>
            </a:r>
            <a:pPr indent="0" marL="0">
              <a:lnSpc>
                <a:spcPts val="1000"/>
              </a:lnSpc>
              <a:buNone/>
            </a:pPr>
            <a:r>
              <a:rPr lang="en-US" sz="750" dirty="0">
                <a:solidFill>
                  <a:srgbClr val="525252"/>
                </a:solidFill>
                <a:latin typeface="Arial" pitchFamily="34" charset="0"/>
                <a:ea typeface="Arial" pitchFamily="34" charset="-122"/>
                <a:cs typeface="Arial" pitchFamily="34" charset="-120"/>
              </a:rPr>
              <a:t>Membuka payload data sebelum dan sesudah diedit.</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48640" y="365760"/>
            <a:ext cx="1097280" cy="22860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PAGE 36</a:t>
            </a:r>
            <a:endParaRPr lang="en-US" sz="900" dirty="0"/>
          </a:p>
        </p:txBody>
      </p:sp>
      <p:sp>
        <p:nvSpPr>
          <p:cNvPr id="3" name="Shape 1"/>
          <p:cNvSpPr/>
          <p:nvPr/>
        </p:nvSpPr>
        <p:spPr>
          <a:xfrm>
            <a:off x="1371600" y="347472"/>
            <a:ext cx="1005840" cy="237744"/>
          </a:xfrm>
          <a:prstGeom prst="roundRect">
            <a:avLst>
              <a:gd name="adj" fmla="val 19231"/>
            </a:avLst>
          </a:prstGeom>
          <a:solidFill>
            <a:srgbClr val="EF4444"/>
          </a:solidFill>
          <a:ln/>
        </p:spPr>
      </p:sp>
      <p:sp>
        <p:nvSpPr>
          <p:cNvPr id="4" name="Text 2"/>
          <p:cNvSpPr/>
          <p:nvPr/>
        </p:nvSpPr>
        <p:spPr>
          <a:xfrm>
            <a:off x="1371600" y="347472"/>
            <a:ext cx="100584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ADMIN</a:t>
            </a:r>
            <a:endParaRPr lang="en-US" sz="850" dirty="0"/>
          </a:p>
        </p:txBody>
      </p:sp>
      <p:sp>
        <p:nvSpPr>
          <p:cNvPr id="5" name="Text 3"/>
          <p:cNvSpPr/>
          <p:nvPr/>
        </p:nvSpPr>
        <p:spPr>
          <a:xfrm>
            <a:off x="548640" y="594360"/>
            <a:ext cx="8046720" cy="365760"/>
          </a:xfrm>
          <a:prstGeom prst="rect">
            <a:avLst/>
          </a:prstGeom>
          <a:noFill/>
          <a:ln/>
        </p:spPr>
        <p:txBody>
          <a:bodyPr wrap="square" lIns="0" tIns="0" rIns="0" bIns="0" rtlCol="0" anchor="ctr"/>
          <a:lstStyle/>
          <a:p>
            <a:pPr indent="0" marL="0">
              <a:buNone/>
            </a:pPr>
            <a:r>
              <a:rPr lang="en-US" sz="2000" b="1" dirty="0">
                <a:solidFill>
                  <a:srgbClr val="141312"/>
                </a:solidFill>
                <a:latin typeface="Georgia" pitchFamily="34" charset="0"/>
                <a:ea typeface="Georgia" pitchFamily="34" charset="-122"/>
                <a:cs typeface="Georgia" pitchFamily="34" charset="-120"/>
              </a:rPr>
              <a:t>Laporan Finansial &amp; Unduh PDF</a:t>
            </a:r>
            <a:endParaRPr lang="en-US" sz="2000" dirty="0"/>
          </a:p>
        </p:txBody>
      </p:sp>
      <p:sp>
        <p:nvSpPr>
          <p:cNvPr id="6" name="Text 4"/>
          <p:cNvSpPr/>
          <p:nvPr/>
        </p:nvSpPr>
        <p:spPr>
          <a:xfrm>
            <a:off x="548640" y="960120"/>
            <a:ext cx="8046720" cy="228600"/>
          </a:xfrm>
          <a:prstGeom prst="rect">
            <a:avLst/>
          </a:prstGeom>
          <a:noFill/>
          <a:ln/>
        </p:spPr>
        <p:txBody>
          <a:bodyPr wrap="square" lIns="0" tIns="0" rIns="0" bIns="0" rtlCol="0" anchor="ctr"/>
          <a:lstStyle/>
          <a:p>
            <a:pPr indent="0" marL="0">
              <a:buNone/>
            </a:pPr>
            <a:r>
              <a:rPr lang="en-US" sz="900" dirty="0">
                <a:solidFill>
                  <a:srgbClr val="737373"/>
                </a:solidFill>
                <a:latin typeface="Arial" pitchFamily="34" charset="0"/>
                <a:ea typeface="Arial" pitchFamily="34" charset="-122"/>
                <a:cs typeface="Arial" pitchFamily="34" charset="-120"/>
              </a:rPr>
              <a:t>URL: https://novatravel.com/admin/reports  •  Kategori: Admin Portal</a:t>
            </a:r>
            <a:endParaRPr lang="en-US" sz="900" dirty="0"/>
          </a:p>
        </p:txBody>
      </p:sp>
      <p:sp>
        <p:nvSpPr>
          <p:cNvPr id="7" name="Shape 5"/>
          <p:cNvSpPr/>
          <p:nvPr/>
        </p:nvSpPr>
        <p:spPr>
          <a:xfrm>
            <a:off x="457200" y="1234440"/>
            <a:ext cx="4846320" cy="3611880"/>
          </a:xfrm>
          <a:prstGeom prst="roundRect">
            <a:avLst>
              <a:gd name="adj" fmla="val 2025"/>
            </a:avLst>
          </a:prstGeom>
          <a:solidFill>
            <a:srgbClr val="FFFFFF"/>
          </a:solidFill>
          <a:ln w="12700">
            <a:solidFill>
              <a:srgbClr val="D4D4D4"/>
            </a:solidFill>
            <a:prstDash val="solid"/>
          </a:ln>
        </p:spPr>
      </p:sp>
      <p:sp>
        <p:nvSpPr>
          <p:cNvPr id="8" name="Shape 6"/>
          <p:cNvSpPr/>
          <p:nvPr/>
        </p:nvSpPr>
        <p:spPr>
          <a:xfrm>
            <a:off x="457200" y="1234440"/>
            <a:ext cx="4846320" cy="256032"/>
          </a:xfrm>
          <a:prstGeom prst="rect">
            <a:avLst/>
          </a:prstGeom>
          <a:solidFill>
            <a:srgbClr val="F5F5F4"/>
          </a:solidFill>
          <a:ln w="6350">
            <a:solidFill>
              <a:srgbClr val="E5E5E5"/>
            </a:solidFill>
            <a:prstDash val="solid"/>
          </a:ln>
        </p:spPr>
      </p:sp>
      <p:sp>
        <p:nvSpPr>
          <p:cNvPr id="9" name="Shape 7"/>
          <p:cNvSpPr/>
          <p:nvPr/>
        </p:nvSpPr>
        <p:spPr>
          <a:xfrm>
            <a:off x="594360" y="1307592"/>
            <a:ext cx="91440" cy="91440"/>
          </a:xfrm>
          <a:prstGeom prst="ellipse">
            <a:avLst/>
          </a:prstGeom>
          <a:solidFill>
            <a:srgbClr val="EF4444"/>
          </a:solidFill>
          <a:ln/>
        </p:spPr>
      </p:sp>
      <p:sp>
        <p:nvSpPr>
          <p:cNvPr id="10" name="Shape 8"/>
          <p:cNvSpPr/>
          <p:nvPr/>
        </p:nvSpPr>
        <p:spPr>
          <a:xfrm>
            <a:off x="731520" y="1307592"/>
            <a:ext cx="91440" cy="91440"/>
          </a:xfrm>
          <a:prstGeom prst="ellipse">
            <a:avLst/>
          </a:prstGeom>
          <a:solidFill>
            <a:srgbClr val="F59E0B"/>
          </a:solidFill>
          <a:ln/>
        </p:spPr>
      </p:sp>
      <p:sp>
        <p:nvSpPr>
          <p:cNvPr id="11" name="Shape 9"/>
          <p:cNvSpPr/>
          <p:nvPr/>
        </p:nvSpPr>
        <p:spPr>
          <a:xfrm>
            <a:off x="868680" y="1307592"/>
            <a:ext cx="91440" cy="91440"/>
          </a:xfrm>
          <a:prstGeom prst="ellipse">
            <a:avLst/>
          </a:prstGeom>
          <a:solidFill>
            <a:srgbClr val="10B981"/>
          </a:solidFill>
          <a:ln/>
        </p:spPr>
      </p:sp>
      <p:sp>
        <p:nvSpPr>
          <p:cNvPr id="12" name="Shape 10"/>
          <p:cNvSpPr/>
          <p:nvPr/>
        </p:nvSpPr>
        <p:spPr>
          <a:xfrm>
            <a:off x="1097280" y="1271016"/>
            <a:ext cx="2926080" cy="164592"/>
          </a:xfrm>
          <a:prstGeom prst="roundRect">
            <a:avLst>
              <a:gd name="adj" fmla="val 22222"/>
            </a:avLst>
          </a:prstGeom>
          <a:solidFill>
            <a:srgbClr val="FFFFFF"/>
          </a:solidFill>
          <a:ln w="6350">
            <a:solidFill>
              <a:srgbClr val="E5E5E5"/>
            </a:solidFill>
            <a:prstDash val="solid"/>
          </a:ln>
        </p:spPr>
      </p:sp>
      <p:sp>
        <p:nvSpPr>
          <p:cNvPr id="13" name="Text 11"/>
          <p:cNvSpPr/>
          <p:nvPr/>
        </p:nvSpPr>
        <p:spPr>
          <a:xfrm>
            <a:off x="1143000" y="1271016"/>
            <a:ext cx="2834640" cy="164592"/>
          </a:xfrm>
          <a:prstGeom prst="rect">
            <a:avLst/>
          </a:prstGeom>
          <a:noFill/>
          <a:ln/>
        </p:spPr>
        <p:txBody>
          <a:bodyPr wrap="square" rtlCol="0" anchor="ctr"/>
          <a:lstStyle/>
          <a:p>
            <a:pPr indent="0" marL="0">
              <a:buNone/>
            </a:pPr>
            <a:r>
              <a:rPr lang="en-US" sz="750" dirty="0">
                <a:solidFill>
                  <a:srgbClr val="525252"/>
                </a:solidFill>
                <a:latin typeface="Courier New" pitchFamily="34" charset="0"/>
                <a:ea typeface="Courier New" pitchFamily="34" charset="-122"/>
                <a:cs typeface="Courier New" pitchFamily="34" charset="-120"/>
              </a:rPr>
              <a:t>novatravel.com/admin/reports</a:t>
            </a:r>
            <a:endParaRPr lang="en-US" sz="750" dirty="0"/>
          </a:p>
        </p:txBody>
      </p:sp>
      <p:pic>
        <p:nvPicPr>
          <p:cNvPr id="14" name="Image 0" descr="C:\Users\lulus\Dominator\nova-next\public\docs\screenshots\admin-reports.png">    </p:cNvPr>
          <p:cNvPicPr>
            <a:picLocks noChangeAspect="1"/>
          </p:cNvPicPr>
          <p:nvPr/>
        </p:nvPicPr>
        <p:blipFill>
          <a:blip r:embed="rId1"/>
          <a:srcRect l="0" r="0" t="0" b="0"/>
          <a:stretch/>
        </p:blipFill>
        <p:spPr>
          <a:xfrm>
            <a:off x="475488" y="1490472"/>
            <a:ext cx="4809744" cy="3319272"/>
          </a:xfrm>
          <a:prstGeom prst="rect">
            <a:avLst/>
          </a:prstGeom>
        </p:spPr>
      </p:pic>
      <p:sp>
        <p:nvSpPr>
          <p:cNvPr id="15" name="Shape 12"/>
          <p:cNvSpPr/>
          <p:nvPr/>
        </p:nvSpPr>
        <p:spPr>
          <a:xfrm>
            <a:off x="5440680" y="1234440"/>
            <a:ext cx="3291840" cy="960120"/>
          </a:xfrm>
          <a:prstGeom prst="roundRect">
            <a:avLst>
              <a:gd name="adj" fmla="val 7619"/>
            </a:avLst>
          </a:prstGeom>
          <a:solidFill>
            <a:srgbClr val="FFFFFF"/>
          </a:solidFill>
          <a:ln w="12700">
            <a:solidFill>
              <a:srgbClr val="E5E5E5"/>
            </a:solidFill>
            <a:prstDash val="solid"/>
          </a:ln>
        </p:spPr>
      </p:sp>
      <p:sp>
        <p:nvSpPr>
          <p:cNvPr id="16" name="Text 13"/>
          <p:cNvSpPr/>
          <p:nvPr/>
        </p:nvSpPr>
        <p:spPr>
          <a:xfrm>
            <a:off x="5586984" y="1307592"/>
            <a:ext cx="2999232" cy="164592"/>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RINGKASAN &amp; FUNGSI UTAMA</a:t>
            </a:r>
            <a:endParaRPr lang="en-US" sz="850" dirty="0"/>
          </a:p>
        </p:txBody>
      </p:sp>
      <p:sp>
        <p:nvSpPr>
          <p:cNvPr id="17" name="Text 14"/>
          <p:cNvSpPr/>
          <p:nvPr/>
        </p:nvSpPr>
        <p:spPr>
          <a:xfrm>
            <a:off x="5586984" y="1499616"/>
            <a:ext cx="2999232" cy="640080"/>
          </a:xfrm>
          <a:prstGeom prst="rect">
            <a:avLst/>
          </a:prstGeom>
          <a:noFill/>
          <a:ln/>
        </p:spPr>
        <p:txBody>
          <a:bodyPr wrap="square" rtlCol="0" anchor="ctr"/>
          <a:lstStyle/>
          <a:p>
            <a:pPr indent="0" marL="0">
              <a:lnSpc>
                <a:spcPts val="1050"/>
              </a:lnSpc>
              <a:buNone/>
            </a:pPr>
            <a:r>
              <a:rPr lang="en-US" sz="800" dirty="0">
                <a:solidFill>
                  <a:srgbClr val="333333"/>
                </a:solidFill>
                <a:latin typeface="Arial" pitchFamily="34" charset="0"/>
                <a:ea typeface="Arial" pitchFamily="34" charset="-122"/>
                <a:cs typeface="Arial" pitchFamily="34" charset="-120"/>
              </a:rPr>
              <a:t>Menyajikan analisis keuangan mendalam untuk rapat manajemen. Admin dapat melihat laporan laba kotor, komisi, rata-rata transaksi per tamu, serta mengunduh dokumen laporan resmi dalam format PDF beresolusi cetak tinggi (@react-pdf/renderer).</a:t>
            </a:r>
            <a:endParaRPr lang="en-US" sz="800" dirty="0"/>
          </a:p>
        </p:txBody>
      </p:sp>
      <p:sp>
        <p:nvSpPr>
          <p:cNvPr id="18" name="Shape 15"/>
          <p:cNvSpPr/>
          <p:nvPr/>
        </p:nvSpPr>
        <p:spPr>
          <a:xfrm>
            <a:off x="5440680" y="2267712"/>
            <a:ext cx="3291840" cy="1353312"/>
          </a:xfrm>
          <a:prstGeom prst="roundRect">
            <a:avLst>
              <a:gd name="adj" fmla="val 5405"/>
            </a:avLst>
          </a:prstGeom>
          <a:solidFill>
            <a:srgbClr val="FFFFFF"/>
          </a:solidFill>
          <a:ln w="12700">
            <a:solidFill>
              <a:srgbClr val="E5E5E5"/>
            </a:solidFill>
            <a:prstDash val="solid"/>
          </a:ln>
        </p:spPr>
      </p:sp>
      <p:sp>
        <p:nvSpPr>
          <p:cNvPr id="19" name="Text 16"/>
          <p:cNvSpPr/>
          <p:nvPr/>
        </p:nvSpPr>
        <p:spPr>
          <a:xfrm>
            <a:off x="5586984" y="2340864"/>
            <a:ext cx="2999232" cy="164592"/>
          </a:xfrm>
          <a:prstGeom prst="rect">
            <a:avLst/>
          </a:prstGeom>
          <a:noFill/>
          <a:ln/>
        </p:spPr>
        <p:txBody>
          <a:bodyPr wrap="square" rtlCol="0" anchor="ctr"/>
          <a:lstStyle/>
          <a:p>
            <a:pPr indent="0" marL="0">
              <a:buNone/>
            </a:pPr>
            <a:r>
              <a:rPr lang="en-US" sz="850" b="1" dirty="0">
                <a:solidFill>
                  <a:srgbClr val="1D4ED8"/>
                </a:solidFill>
                <a:latin typeface="Arial" pitchFamily="34" charset="0"/>
                <a:ea typeface="Arial" pitchFamily="34" charset="-122"/>
                <a:cs typeface="Arial" pitchFamily="34" charset="-120"/>
              </a:rPr>
              <a:t>ANATOMI &amp; ELEMEN HALAMAN</a:t>
            </a:r>
            <a:endParaRPr lang="en-US" sz="850" dirty="0"/>
          </a:p>
        </p:txBody>
      </p:sp>
      <p:sp>
        <p:nvSpPr>
          <p:cNvPr id="20" name="Text 17"/>
          <p:cNvSpPr/>
          <p:nvPr/>
        </p:nvSpPr>
        <p:spPr>
          <a:xfrm>
            <a:off x="5586984" y="2542032"/>
            <a:ext cx="2999232" cy="1024128"/>
          </a:xfrm>
          <a:prstGeom prst="rect">
            <a:avLst/>
          </a:prstGeom>
          <a:noFill/>
          <a:ln/>
        </p:spPr>
        <p:txBody>
          <a:bodyPr wrap="square" rtlCol="0" anchor="ctr"/>
          <a:lstStyle/>
          <a:p>
            <a:pPr indent="0" marL="0">
              <a:lnSpc>
                <a:spcPts val="1000"/>
              </a:lnSpc>
              <a:buNone/>
            </a:pPr>
            <a:r>
              <a:rPr lang="en-US" sz="800" b="1" dirty="0">
                <a:solidFill>
                  <a:srgbClr val="2563EB"/>
                </a:solidFill>
                <a:latin typeface="Arial" pitchFamily="34" charset="0"/>
                <a:ea typeface="Arial" pitchFamily="34" charset="-122"/>
                <a:cs typeface="Arial" pitchFamily="34" charset="-120"/>
              </a:rPr>
              <a:t>[01]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Date Range Selector: </a:t>
            </a:r>
            <a:pPr indent="0" marL="0">
              <a:lnSpc>
                <a:spcPts val="1000"/>
              </a:lnSpc>
              <a:buNone/>
            </a:pPr>
            <a:r>
              <a:rPr lang="en-US" sz="750" dirty="0">
                <a:solidFill>
                  <a:srgbClr val="525252"/>
                </a:solidFill>
                <a:latin typeface="Arial" pitchFamily="34" charset="0"/>
                <a:ea typeface="Arial" pitchFamily="34" charset="-122"/>
                <a:cs typeface="Arial" pitchFamily="34" charset="-120"/>
              </a:rPr>
              <a:t>Kontrol rentang waktu analisis finansial.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[02]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Financial Breakdown Summary: </a:t>
            </a:r>
            <a:pPr indent="0" marL="0">
              <a:lnSpc>
                <a:spcPts val="1000"/>
              </a:lnSpc>
              <a:buNone/>
            </a:pPr>
            <a:r>
              <a:rPr lang="en-US" sz="750" dirty="0">
                <a:solidFill>
                  <a:srgbClr val="525252"/>
                </a:solidFill>
                <a:latin typeface="Arial" pitchFamily="34" charset="0"/>
                <a:ea typeface="Arial" pitchFamily="34" charset="-122"/>
                <a:cs typeface="Arial" pitchFamily="34" charset="-120"/>
              </a:rPr>
              <a:t>Tabel ringkasan omset kotor, diskon kupon, fee gateway, dan laba bersih.
</a:t>
            </a:r>
            <a:pPr indent="0" marL="0">
              <a:lnSpc>
                <a:spcPts val="1000"/>
              </a:lnSpc>
              <a:buNone/>
            </a:pPr>
            <a:r>
              <a:rPr lang="en-US" sz="800" b="1" dirty="0">
                <a:solidFill>
                  <a:srgbClr val="2563EB"/>
                </a:solidFill>
                <a:latin typeface="Arial" pitchFamily="34" charset="0"/>
                <a:ea typeface="Arial" pitchFamily="34" charset="-122"/>
                <a:cs typeface="Arial" pitchFamily="34" charset="-120"/>
              </a:rPr>
              <a:t>[03]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Download PDF Button: </a:t>
            </a:r>
            <a:pPr indent="0" marL="0">
              <a:lnSpc>
                <a:spcPts val="1000"/>
              </a:lnSpc>
              <a:buNone/>
            </a:pPr>
            <a:r>
              <a:rPr lang="en-US" sz="750" dirty="0">
                <a:solidFill>
                  <a:srgbClr val="525252"/>
                </a:solidFill>
                <a:latin typeface="Arial" pitchFamily="34" charset="0"/>
                <a:ea typeface="Arial" pitchFamily="34" charset="-122"/>
                <a:cs typeface="Arial" pitchFamily="34" charset="-120"/>
              </a:rPr>
              <a:t>Tombol untuk merender dan mengunduh laporan PDF resmi.</a:t>
            </a:r>
            <a:endParaRPr lang="en-US" sz="800" dirty="0"/>
          </a:p>
        </p:txBody>
      </p:sp>
      <p:sp>
        <p:nvSpPr>
          <p:cNvPr id="21" name="Shape 18"/>
          <p:cNvSpPr/>
          <p:nvPr/>
        </p:nvSpPr>
        <p:spPr>
          <a:xfrm>
            <a:off x="5440680" y="3694176"/>
            <a:ext cx="3291840" cy="1152144"/>
          </a:xfrm>
          <a:prstGeom prst="roundRect">
            <a:avLst>
              <a:gd name="adj" fmla="val 6349"/>
            </a:avLst>
          </a:prstGeom>
          <a:solidFill>
            <a:srgbClr val="FFFFFF"/>
          </a:solidFill>
          <a:ln w="12700">
            <a:solidFill>
              <a:srgbClr val="E5E5E5"/>
            </a:solidFill>
            <a:prstDash val="solid"/>
          </a:ln>
        </p:spPr>
      </p:sp>
      <p:sp>
        <p:nvSpPr>
          <p:cNvPr id="22" name="Text 19"/>
          <p:cNvSpPr/>
          <p:nvPr/>
        </p:nvSpPr>
        <p:spPr>
          <a:xfrm>
            <a:off x="5586984" y="3767328"/>
            <a:ext cx="2999232" cy="164592"/>
          </a:xfrm>
          <a:prstGeom prst="rect">
            <a:avLst/>
          </a:prstGeom>
          <a:noFill/>
          <a:ln/>
        </p:spPr>
        <p:txBody>
          <a:bodyPr wrap="square" rtlCol="0" anchor="ctr"/>
          <a:lstStyle/>
          <a:p>
            <a:pPr indent="0" marL="0">
              <a:buNone/>
            </a:pPr>
            <a:r>
              <a:rPr lang="en-US" sz="850" b="1" dirty="0">
                <a:solidFill>
                  <a:srgbClr val="047857"/>
                </a:solidFill>
                <a:latin typeface="Arial" pitchFamily="34" charset="0"/>
                <a:ea typeface="Arial" pitchFamily="34" charset="-122"/>
                <a:cs typeface="Arial" pitchFamily="34" charset="-120"/>
              </a:rPr>
              <a:t>AKSI &amp; TOMBOL PENGGUNA</a:t>
            </a:r>
            <a:endParaRPr lang="en-US" sz="850" dirty="0"/>
          </a:p>
        </p:txBody>
      </p:sp>
      <p:sp>
        <p:nvSpPr>
          <p:cNvPr id="23" name="Text 20"/>
          <p:cNvSpPr/>
          <p:nvPr/>
        </p:nvSpPr>
        <p:spPr>
          <a:xfrm>
            <a:off x="5586984" y="3968496"/>
            <a:ext cx="2999232" cy="822960"/>
          </a:xfrm>
          <a:prstGeom prst="rect">
            <a:avLst/>
          </a:prstGeom>
          <a:noFill/>
          <a:ln/>
        </p:spPr>
        <p:txBody>
          <a:bodyPr wrap="square" rtlCol="0" anchor="ctr"/>
          <a:lstStyle/>
          <a:p>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Ubah Rentang Periode: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Menghitung ulang statistik sesuai tanggal yang dipilih.
</a:t>
            </a:r>
            <a:pPr indent="0" marL="0">
              <a:lnSpc>
                <a:spcPts val="1000"/>
              </a:lnSpc>
              <a:buNone/>
            </a:pPr>
            <a:r>
              <a:rPr lang="en-US" sz="750" b="1" dirty="0">
                <a:solidFill>
                  <a:srgbClr val="059669"/>
                </a:solidFill>
                <a:latin typeface="Arial" pitchFamily="34" charset="0"/>
                <a:ea typeface="Arial" pitchFamily="34" charset="-122"/>
                <a:cs typeface="Arial" pitchFamily="34" charset="-120"/>
              </a:rPr>
              <a:t>► </a:t>
            </a:r>
            <a:pPr indent="0" marL="0">
              <a:lnSpc>
                <a:spcPts val="1000"/>
              </a:lnSpc>
              <a:buNone/>
            </a:pPr>
            <a:r>
              <a:rPr lang="en-US" sz="800" b="1" dirty="0">
                <a:solidFill>
                  <a:srgbClr val="171717"/>
                </a:solidFill>
                <a:latin typeface="Arial" pitchFamily="34" charset="0"/>
                <a:ea typeface="Arial" pitchFamily="34" charset="-122"/>
                <a:cs typeface="Arial" pitchFamily="34" charset="-120"/>
              </a:rPr>
              <a:t>Unduh Laporan PDF: </a:t>
            </a:r>
            <a:pPr indent="0" marL="0">
              <a:lnSpc>
                <a:spcPts val="1000"/>
              </a:lnSpc>
              <a:buNone/>
            </a:pPr>
            <a:r>
              <a:rPr lang="en-US" sz="750" dirty="0">
                <a:solidFill>
                  <a:srgbClr val="525252"/>
                </a:solidFill>
                <a:latin typeface="Arial" pitchFamily="34" charset="0"/>
                <a:ea typeface="Arial" pitchFamily="34" charset="-122"/>
                <a:cs typeface="Arial" pitchFamily="34" charset="-120"/>
              </a:rPr>
              <a:t>Menghasilkan dokumen PDF laporan eksekutif.</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312"/>
        </a:solidFill>
      </p:bgPr>
    </p:bg>
    <p:spTree>
      <p:nvGrpSpPr>
        <p:cNvPr id="1" name=""/>
        <p:cNvGrpSpPr/>
        <p:nvPr/>
      </p:nvGrpSpPr>
      <p:grpSpPr>
        <a:xfrm>
          <a:off x="0" y="0"/>
          <a:ext cx="0" cy="0"/>
          <a:chOff x="0" y="0"/>
          <a:chExt cx="0" cy="0"/>
        </a:xfrm>
      </p:grpSpPr>
      <p:sp>
        <p:nvSpPr>
          <p:cNvPr id="2" name="Text 0"/>
          <p:cNvSpPr/>
          <p:nvPr/>
        </p:nvSpPr>
        <p:spPr>
          <a:xfrm>
            <a:off x="914400" y="1371600"/>
            <a:ext cx="7315200" cy="274320"/>
          </a:xfrm>
          <a:prstGeom prst="rect">
            <a:avLst/>
          </a:prstGeom>
          <a:noFill/>
          <a:ln/>
        </p:spPr>
        <p:txBody>
          <a:bodyPr wrap="square" rtlCol="0" anchor="ctr"/>
          <a:lstStyle/>
          <a:p>
            <a:pPr indent="0" marL="0">
              <a:buNone/>
            </a:pPr>
            <a:r>
              <a:rPr lang="en-US" sz="1000" b="1" dirty="0">
                <a:solidFill>
                  <a:srgbClr val="D4AF37"/>
                </a:solidFill>
                <a:latin typeface="Arial" pitchFamily="34" charset="0"/>
                <a:ea typeface="Arial" pitchFamily="34" charset="-122"/>
                <a:cs typeface="Arial" pitchFamily="34" charset="-120"/>
              </a:rPr>
              <a:t>SELESAI &amp; AKSES LIVE</a:t>
            </a:r>
            <a:endParaRPr lang="en-US" sz="1000" dirty="0"/>
          </a:p>
        </p:txBody>
      </p:sp>
      <p:sp>
        <p:nvSpPr>
          <p:cNvPr id="3" name="Text 1"/>
          <p:cNvSpPr/>
          <p:nvPr/>
        </p:nvSpPr>
        <p:spPr>
          <a:xfrm>
            <a:off x="914400" y="1737360"/>
            <a:ext cx="731520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Terima Kasih — Jelajahi Live Showcase</a:t>
            </a:r>
            <a:endParaRPr lang="en-US" sz="3200" dirty="0"/>
          </a:p>
        </p:txBody>
      </p:sp>
      <p:sp>
        <p:nvSpPr>
          <p:cNvPr id="4" name="Text 2"/>
          <p:cNvSpPr/>
          <p:nvPr/>
        </p:nvSpPr>
        <p:spPr>
          <a:xfrm>
            <a:off x="914400" y="2468880"/>
            <a:ext cx="6858000" cy="365760"/>
          </a:xfrm>
          <a:prstGeom prst="rect">
            <a:avLst/>
          </a:prstGeom>
          <a:noFill/>
          <a:ln/>
        </p:spPr>
        <p:txBody>
          <a:bodyPr wrap="square" rtlCol="0" anchor="ctr"/>
          <a:lstStyle/>
          <a:p>
            <a:pPr indent="0" marL="0">
              <a:buNone/>
            </a:pPr>
            <a:r>
              <a:rPr lang="en-US" sz="1300" dirty="0">
                <a:solidFill>
                  <a:srgbClr val="A3A3A3"/>
                </a:solidFill>
                <a:latin typeface="Arial" pitchFamily="34" charset="0"/>
                <a:ea typeface="Arial" pitchFamily="34" charset="-122"/>
                <a:cs typeface="Arial" pitchFamily="34" charset="-120"/>
              </a:rPr>
              <a:t>Dokumentasi interaktif ini dapat diakses secara live kapan saja melalui URL:</a:t>
            </a:r>
            <a:endParaRPr lang="en-US" sz="1300" dirty="0"/>
          </a:p>
        </p:txBody>
      </p:sp>
      <p:sp>
        <p:nvSpPr>
          <p:cNvPr id="5" name="Shape 3"/>
          <p:cNvSpPr/>
          <p:nvPr/>
        </p:nvSpPr>
        <p:spPr>
          <a:xfrm>
            <a:off x="914400" y="3017520"/>
            <a:ext cx="5486400" cy="640080"/>
          </a:xfrm>
          <a:prstGeom prst="roundRect">
            <a:avLst>
              <a:gd name="adj" fmla="val 14286"/>
            </a:avLst>
          </a:prstGeom>
          <a:solidFill>
            <a:srgbClr val="262626"/>
          </a:solidFill>
          <a:ln w="12700">
            <a:solidFill>
              <a:srgbClr val="D4AF37"/>
            </a:solidFill>
            <a:prstDash val="solid"/>
          </a:ln>
        </p:spPr>
      </p:sp>
      <p:sp>
        <p:nvSpPr>
          <p:cNvPr id="6" name="Text 4"/>
          <p:cNvSpPr/>
          <p:nvPr/>
        </p:nvSpPr>
        <p:spPr>
          <a:xfrm>
            <a:off x="914400" y="3017520"/>
            <a:ext cx="5486400" cy="640080"/>
          </a:xfrm>
          <a:prstGeom prst="rect">
            <a:avLst/>
          </a:prstGeom>
          <a:noFill/>
          <a:ln/>
        </p:spPr>
        <p:txBody>
          <a:bodyPr wrap="square" rtlCol="0" anchor="ctr"/>
          <a:lstStyle/>
          <a:p>
            <a:pPr algn="ctr" indent="0" marL="0">
              <a:buNone/>
            </a:pPr>
            <a:r>
              <a:rPr lang="en-US" sz="1600" b="1" dirty="0">
                <a:solidFill>
                  <a:srgbClr val="D4AF37"/>
                </a:solidFill>
                <a:latin typeface="Courier New" pitchFamily="34" charset="0"/>
                <a:ea typeface="Courier New" pitchFamily="34" charset="-122"/>
                <a:cs typeface="Courier New" pitchFamily="34" charset="-120"/>
              </a:rPr>
              <a:t>http://localhost:3000/docs  •  /docs/flow-map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NOVA Travel Luxury Journeys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TRAVEL — Digital User Guide &amp; Interactive Application Showcase</dc:title>
  <dc:subject>PptxGenJS Presentation</dc:subject>
  <dc:creator>NOVA Travel Engineering</dc:creator>
  <cp:lastModifiedBy>NOVA Travel Engineering</cp:lastModifiedBy>
  <cp:revision>1</cp:revision>
  <dcterms:created xsi:type="dcterms:W3CDTF">2026-09-09T07:44:00Z</dcterms:created>
  <dcterms:modified xsi:type="dcterms:W3CDTF">2026-09-09T07:44:00Z</dcterms:modified>
</cp:coreProperties>
</file>